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716" y="2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5BBA38-688B-40BE-9244-DE415455ADA7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3497E-3020-413E-BD38-951A2956D8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70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E3497E-3020-413E-BD38-951A2956D86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72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E3497E-3020-413E-BD38-951A2956D86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844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455209" y="3812711"/>
            <a:ext cx="1256665" cy="0"/>
          </a:xfrm>
          <a:custGeom>
            <a:avLst/>
            <a:gdLst/>
            <a:ahLst/>
            <a:cxnLst/>
            <a:rect l="l" t="t" r="r" b="b"/>
            <a:pathLst>
              <a:path w="1256665">
                <a:moveTo>
                  <a:pt x="0" y="0"/>
                </a:moveTo>
                <a:lnTo>
                  <a:pt x="1256506" y="0"/>
                </a:lnTo>
              </a:path>
            </a:pathLst>
          </a:custGeom>
          <a:ln w="39265">
            <a:solidFill>
              <a:srgbClr val="2860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19558" y="4177617"/>
            <a:ext cx="9752330" cy="1537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0F0F0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814795" y="6064340"/>
            <a:ext cx="12474509" cy="1831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F0F0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F0F0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0F0F0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7320" y="927716"/>
            <a:ext cx="7257415" cy="791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0F0F0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84565" y="4203896"/>
            <a:ext cx="13789025" cy="4456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jpg"/><Relationship Id="rId18" Type="http://schemas.openxmlformats.org/officeDocument/2006/relationships/image" Target="../media/image19.jpg"/><Relationship Id="rId26" Type="http://schemas.openxmlformats.org/officeDocument/2006/relationships/image" Target="../media/image27.jpg"/><Relationship Id="rId3" Type="http://schemas.openxmlformats.org/officeDocument/2006/relationships/image" Target="../media/image4.jpg"/><Relationship Id="rId21" Type="http://schemas.openxmlformats.org/officeDocument/2006/relationships/image" Target="../media/image22.jpg"/><Relationship Id="rId7" Type="http://schemas.openxmlformats.org/officeDocument/2006/relationships/image" Target="../media/image8.jpg"/><Relationship Id="rId12" Type="http://schemas.openxmlformats.org/officeDocument/2006/relationships/image" Target="../media/image13.png"/><Relationship Id="rId17" Type="http://schemas.openxmlformats.org/officeDocument/2006/relationships/image" Target="../media/image18.jpg"/><Relationship Id="rId25" Type="http://schemas.openxmlformats.org/officeDocument/2006/relationships/image" Target="../media/image26.jpg"/><Relationship Id="rId2" Type="http://schemas.openxmlformats.org/officeDocument/2006/relationships/image" Target="../media/image3.jpg"/><Relationship Id="rId16" Type="http://schemas.openxmlformats.org/officeDocument/2006/relationships/image" Target="../media/image17.png"/><Relationship Id="rId20" Type="http://schemas.openxmlformats.org/officeDocument/2006/relationships/image" Target="../media/image21.jpg"/><Relationship Id="rId29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11" Type="http://schemas.openxmlformats.org/officeDocument/2006/relationships/image" Target="../media/image12.jpg"/><Relationship Id="rId24" Type="http://schemas.openxmlformats.org/officeDocument/2006/relationships/image" Target="../media/image25.jpg"/><Relationship Id="rId5" Type="http://schemas.openxmlformats.org/officeDocument/2006/relationships/image" Target="../media/image6.jpg"/><Relationship Id="rId15" Type="http://schemas.openxmlformats.org/officeDocument/2006/relationships/image" Target="../media/image16.jpg"/><Relationship Id="rId23" Type="http://schemas.openxmlformats.org/officeDocument/2006/relationships/image" Target="../media/image24.jpg"/><Relationship Id="rId28" Type="http://schemas.openxmlformats.org/officeDocument/2006/relationships/image" Target="../media/image29.jpg"/><Relationship Id="rId10" Type="http://schemas.openxmlformats.org/officeDocument/2006/relationships/image" Target="../media/image11.jpg"/><Relationship Id="rId19" Type="http://schemas.openxmlformats.org/officeDocument/2006/relationships/image" Target="../media/image20.jpg"/><Relationship Id="rId31" Type="http://schemas.openxmlformats.org/officeDocument/2006/relationships/image" Target="../media/image32.png"/><Relationship Id="rId4" Type="http://schemas.openxmlformats.org/officeDocument/2006/relationships/image" Target="../media/image5.jpg"/><Relationship Id="rId9" Type="http://schemas.openxmlformats.org/officeDocument/2006/relationships/image" Target="../media/image10.jpg"/><Relationship Id="rId14" Type="http://schemas.openxmlformats.org/officeDocument/2006/relationships/image" Target="../media/image15.jpg"/><Relationship Id="rId22" Type="http://schemas.openxmlformats.org/officeDocument/2006/relationships/image" Target="../media/image23.jpg"/><Relationship Id="rId27" Type="http://schemas.openxmlformats.org/officeDocument/2006/relationships/image" Target="../media/image28.jpg"/><Relationship Id="rId30" Type="http://schemas.openxmlformats.org/officeDocument/2006/relationships/image" Target="../media/image31.jp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7" Type="http://schemas.openxmlformats.org/officeDocument/2006/relationships/image" Target="../media/image43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jpg"/><Relationship Id="rId5" Type="http://schemas.openxmlformats.org/officeDocument/2006/relationships/image" Target="../media/image41.png"/><Relationship Id="rId4" Type="http://schemas.openxmlformats.org/officeDocument/2006/relationships/image" Target="../media/image40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421265" y="1770657"/>
            <a:ext cx="7386696" cy="7768036"/>
          </a:xfrm>
          <a:custGeom>
            <a:avLst/>
            <a:gdLst/>
            <a:ahLst/>
            <a:cxnLst/>
            <a:rect l="l" t="t" r="r" b="b"/>
            <a:pathLst>
              <a:path w="6719420" h="7066312">
                <a:moveTo>
                  <a:pt x="0" y="0"/>
                </a:moveTo>
                <a:lnTo>
                  <a:pt x="6719420" y="0"/>
                </a:lnTo>
                <a:lnTo>
                  <a:pt x="6719420" y="7066312"/>
                </a:lnTo>
                <a:lnTo>
                  <a:pt x="0" y="70663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31927" y="2290419"/>
            <a:ext cx="572968" cy="589928"/>
          </a:xfrm>
          <a:custGeom>
            <a:avLst/>
            <a:gdLst/>
            <a:ahLst/>
            <a:cxnLst/>
            <a:rect l="l" t="t" r="r" b="b"/>
            <a:pathLst>
              <a:path w="521209" h="536637">
                <a:moveTo>
                  <a:pt x="0" y="0"/>
                </a:moveTo>
                <a:lnTo>
                  <a:pt x="521209" y="0"/>
                </a:lnTo>
                <a:lnTo>
                  <a:pt x="521209" y="536637"/>
                </a:lnTo>
                <a:lnTo>
                  <a:pt x="0" y="5366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380205" y="2309336"/>
            <a:ext cx="5409453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8"/>
              </a:lnSpc>
              <a:spcBef>
                <a:spcPct val="0"/>
              </a:spcBef>
            </a:pPr>
            <a:r>
              <a:rPr lang="en-US" sz="2748">
                <a:solidFill>
                  <a:srgbClr val="000000"/>
                </a:solidFill>
                <a:latin typeface="Academy"/>
                <a:ea typeface="Academy"/>
                <a:cs typeface="Academy"/>
                <a:sym typeface="Academy"/>
              </a:rPr>
              <a:t>Computer Networks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14691" y="3321816"/>
            <a:ext cx="10065603" cy="315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1"/>
              </a:lnSpc>
            </a:pPr>
            <a:r>
              <a:rPr lang="en-US" sz="7036" dirty="0">
                <a:solidFill>
                  <a:srgbClr val="1752B5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INTELLIGENT NETWORK HEALTH ANALYZER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867661" y="7024371"/>
            <a:ext cx="9194133" cy="35779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71"/>
              </a:lnSpc>
              <a:spcBef>
                <a:spcPct val="0"/>
              </a:spcBef>
            </a:pPr>
            <a:r>
              <a:rPr lang="en-US" sz="3078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Group Members:</a:t>
            </a:r>
          </a:p>
          <a:p>
            <a:pPr algn="just">
              <a:lnSpc>
                <a:spcPts val="3571"/>
              </a:lnSpc>
              <a:spcBef>
                <a:spcPct val="0"/>
              </a:spcBef>
            </a:pPr>
            <a:endParaRPr lang="en-US" sz="3078" b="1">
              <a:solidFill>
                <a:srgbClr val="000000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64684" lvl="1" indent="-332341" algn="just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Muhammad Ali - 241499</a:t>
            </a:r>
          </a:p>
          <a:p>
            <a:pPr marL="664684" lvl="1" indent="-332341" algn="just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Muhammad Talha - 241547</a:t>
            </a:r>
          </a:p>
          <a:p>
            <a:pPr marL="664684" lvl="1" indent="-332341" algn="just">
              <a:lnSpc>
                <a:spcPts val="3571"/>
              </a:lnSpc>
              <a:spcBef>
                <a:spcPct val="0"/>
              </a:spcBef>
              <a:buFont typeface="Arial"/>
              <a:buChar char="•"/>
            </a:pPr>
            <a:r>
              <a:rPr lang="en-US" sz="307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Haseeb Ahsan - 241577</a:t>
            </a:r>
          </a:p>
          <a:p>
            <a:pPr algn="just">
              <a:lnSpc>
                <a:spcPts val="3571"/>
              </a:lnSpc>
              <a:spcBef>
                <a:spcPct val="0"/>
              </a:spcBef>
            </a:pPr>
            <a:endParaRPr lang="en-US" sz="3078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3571"/>
              </a:lnSpc>
              <a:spcBef>
                <a:spcPct val="0"/>
              </a:spcBef>
            </a:pPr>
            <a:r>
              <a:rPr lang="en-US" sz="307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Instructor: Ma’am Laraib Javed</a:t>
            </a:r>
          </a:p>
          <a:p>
            <a:pPr algn="just">
              <a:lnSpc>
                <a:spcPts val="2678"/>
              </a:lnSpc>
              <a:spcBef>
                <a:spcPct val="0"/>
              </a:spcBef>
            </a:pPr>
            <a:endParaRPr lang="en-US" sz="3078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11135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7537" y="3251210"/>
            <a:ext cx="204182" cy="188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07533" y="3251210"/>
            <a:ext cx="4177883" cy="5968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329284" y="4099351"/>
            <a:ext cx="832435" cy="2513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07533" y="4130764"/>
            <a:ext cx="4177883" cy="345539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6475938" y="4570541"/>
            <a:ext cx="2686050" cy="722630"/>
            <a:chOff x="16475938" y="4570541"/>
            <a:chExt cx="2686050" cy="72263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75938" y="4570541"/>
              <a:ext cx="2685782" cy="18847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512556" y="4790430"/>
              <a:ext cx="1649164" cy="502602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7533" y="4853255"/>
            <a:ext cx="4177883" cy="31412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18109396" y="5324445"/>
            <a:ext cx="1052830" cy="408940"/>
            <a:chOff x="18109396" y="5324445"/>
            <a:chExt cx="1052830" cy="408940"/>
          </a:xfrm>
        </p:grpSpPr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360698" y="5324445"/>
              <a:ext cx="801022" cy="21988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109396" y="5575746"/>
              <a:ext cx="1052323" cy="157063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8266460" y="6109761"/>
            <a:ext cx="895260" cy="34553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706419" y="7366268"/>
            <a:ext cx="2010409" cy="25130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8015157" y="6518126"/>
            <a:ext cx="1146561" cy="15706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8329284" y="6769427"/>
            <a:ext cx="832435" cy="40836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6350287" y="5512921"/>
            <a:ext cx="1193680" cy="40836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8957537" y="9376678"/>
            <a:ext cx="204182" cy="18847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633001" y="6015523"/>
            <a:ext cx="910967" cy="37695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507533" y="5324445"/>
            <a:ext cx="5465802" cy="122509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345081" y="6643776"/>
            <a:ext cx="2198885" cy="31412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973335" y="7052141"/>
            <a:ext cx="1570632" cy="94237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0978723" y="6580951"/>
            <a:ext cx="3832344" cy="9423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507533" y="6832252"/>
            <a:ext cx="4303533" cy="345539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5345081" y="7303442"/>
            <a:ext cx="3816637" cy="18847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15313669" y="7586156"/>
            <a:ext cx="3848050" cy="9423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313669" y="7774632"/>
            <a:ext cx="3848050" cy="12565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0507533" y="7648981"/>
            <a:ext cx="4209295" cy="28271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3837274" y="7994521"/>
            <a:ext cx="4209295" cy="157063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11010135" y="8214409"/>
            <a:ext cx="8152130" cy="377190"/>
            <a:chOff x="11010135" y="8214409"/>
            <a:chExt cx="8152130" cy="377190"/>
          </a:xfrm>
        </p:grpSpPr>
        <p:pic>
          <p:nvPicPr>
            <p:cNvPr id="31" name="object 3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250844" y="8214409"/>
              <a:ext cx="3910875" cy="15706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1010135" y="8402885"/>
              <a:ext cx="4209295" cy="188475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10507533" y="3251210"/>
            <a:ext cx="8654415" cy="6314440"/>
            <a:chOff x="10507533" y="3251210"/>
            <a:chExt cx="8654415" cy="6314440"/>
          </a:xfrm>
        </p:grpSpPr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507533" y="9282439"/>
              <a:ext cx="4177883" cy="28271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507533" y="3251210"/>
              <a:ext cx="8654186" cy="6313943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925496" y="1731273"/>
            <a:ext cx="7257415" cy="791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  <a:tabLst>
                <a:tab pos="454659" algn="l"/>
              </a:tabLst>
            </a:pPr>
            <a:r>
              <a:rPr sz="4900" b="1" spc="-530" dirty="0">
                <a:solidFill>
                  <a:srgbClr val="186DE1"/>
                </a:solidFill>
              </a:rPr>
              <a:t>)</a:t>
            </a:r>
            <a:r>
              <a:rPr sz="4900" b="1" dirty="0">
                <a:solidFill>
                  <a:srgbClr val="186DE1"/>
                </a:solidFill>
              </a:rPr>
              <a:t>	</a:t>
            </a:r>
            <a:r>
              <a:rPr lang="en-US" sz="4900" b="1" dirty="0" smtClean="0">
                <a:solidFill>
                  <a:srgbClr val="1A1A1A"/>
                </a:solidFill>
              </a:rPr>
              <a:t>INTRODUCTION</a:t>
            </a:r>
            <a:endParaRPr sz="4900" b="1" dirty="0"/>
          </a:p>
        </p:txBody>
      </p:sp>
      <p:sp>
        <p:nvSpPr>
          <p:cNvPr id="37" name="object 37"/>
          <p:cNvSpPr txBox="1"/>
          <p:nvPr/>
        </p:nvSpPr>
        <p:spPr>
          <a:xfrm>
            <a:off x="931846" y="3432875"/>
            <a:ext cx="9348804" cy="214077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+mj-lt"/>
              </a:rPr>
              <a:t>Modern applications require </a:t>
            </a:r>
            <a:r>
              <a:rPr lang="en-US" sz="3200" b="1" dirty="0" smtClean="0">
                <a:latin typeface="+mj-lt"/>
              </a:rPr>
              <a:t>stable and fast   networks</a:t>
            </a:r>
            <a:endParaRPr lang="en-US" sz="3200" dirty="0" smtClean="0">
              <a:latin typeface="+mj-lt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+mj-lt"/>
              </a:rPr>
              <a:t>Poor networks cause:</a:t>
            </a:r>
            <a:endParaRPr lang="en-US" sz="3200" dirty="0">
              <a:latin typeface="+mj-l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05831" y="5954175"/>
            <a:ext cx="21907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0" dirty="0">
                <a:solidFill>
                  <a:srgbClr val="EB4642"/>
                </a:solidFill>
                <a:latin typeface="Calibri"/>
                <a:cs typeface="Calibri"/>
              </a:rPr>
              <a:t>O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92321" y="5898172"/>
            <a:ext cx="4897227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494949"/>
                </a:solidFill>
                <a:latin typeface="Calibri"/>
                <a:cs typeface="Calibri"/>
              </a:rPr>
              <a:t>High</a:t>
            </a:r>
            <a:r>
              <a:rPr sz="2800" spc="-16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2800" spc="-45" dirty="0">
                <a:solidFill>
                  <a:srgbClr val="4D4D4D"/>
                </a:solidFill>
                <a:latin typeface="Calibri"/>
                <a:cs typeface="Calibri"/>
              </a:rPr>
              <a:t>Latency</a:t>
            </a:r>
            <a:r>
              <a:rPr sz="2800" spc="-1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800" spc="-70" dirty="0">
                <a:solidFill>
                  <a:srgbClr val="4D4D4D"/>
                </a:solidFill>
                <a:latin typeface="Calibri"/>
                <a:cs typeface="Calibri"/>
              </a:rPr>
              <a:t>&amp;</a:t>
            </a:r>
            <a:r>
              <a:rPr sz="2800" spc="-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24242"/>
                </a:solidFill>
                <a:latin typeface="Calibri"/>
                <a:cs typeface="Calibri"/>
              </a:rPr>
              <a:t>Jitter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98528" y="6735407"/>
            <a:ext cx="233679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0" dirty="0">
                <a:solidFill>
                  <a:srgbClr val="DF494F"/>
                </a:solidFill>
                <a:latin typeface="Calibri"/>
                <a:cs typeface="Calibri"/>
              </a:rPr>
              <a:t>O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92321" y="6665760"/>
            <a:ext cx="485590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80" dirty="0">
                <a:solidFill>
                  <a:srgbClr val="464646"/>
                </a:solidFill>
                <a:latin typeface="Calibri"/>
                <a:cs typeface="Calibri"/>
              </a:rPr>
              <a:t>Packet</a:t>
            </a:r>
            <a:r>
              <a:rPr sz="2800" spc="-4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545454"/>
                </a:solidFill>
                <a:latin typeface="Calibri"/>
                <a:cs typeface="Calibri"/>
              </a:rPr>
              <a:t>Delays</a:t>
            </a:r>
            <a:r>
              <a:rPr sz="2800" spc="-5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95667"/>
                </a:solidFill>
                <a:latin typeface="Calibri"/>
                <a:cs typeface="Calibri"/>
              </a:rPr>
              <a:t>in</a:t>
            </a:r>
            <a:r>
              <a:rPr sz="2800" spc="-190" dirty="0">
                <a:solidFill>
                  <a:srgbClr val="495667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D4D4D"/>
                </a:solidFill>
                <a:latin typeface="Calibri"/>
                <a:cs typeface="Calibri"/>
              </a:rPr>
              <a:t>Gaming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099481" y="7452783"/>
            <a:ext cx="22542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50" dirty="0">
                <a:solidFill>
                  <a:srgbClr val="F2414B"/>
                </a:solidFill>
                <a:latin typeface="Calibri"/>
                <a:cs typeface="Calibri"/>
              </a:rPr>
              <a:t>O</a:t>
            </a:r>
            <a:endParaRPr sz="2450" dirty="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592321" y="7452783"/>
            <a:ext cx="4413019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20" dirty="0">
                <a:solidFill>
                  <a:srgbClr val="4F4F4F"/>
                </a:solidFill>
                <a:latin typeface="Calibri"/>
                <a:cs typeface="Calibri"/>
              </a:rPr>
              <a:t>DNS</a:t>
            </a:r>
            <a:r>
              <a:rPr sz="2800" spc="-3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4D4D4D"/>
                </a:solidFill>
                <a:latin typeface="Calibri"/>
                <a:cs typeface="Calibri"/>
              </a:rPr>
              <a:t>Resolution</a:t>
            </a:r>
            <a:r>
              <a:rPr sz="2800" spc="-7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64646"/>
                </a:solidFill>
                <a:latin typeface="Calibri"/>
                <a:cs typeface="Calibri"/>
              </a:rPr>
              <a:t>Errors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46064" y="8114670"/>
            <a:ext cx="7928609" cy="12107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-3175">
              <a:lnSpc>
                <a:spcPct val="117800"/>
              </a:lnSpc>
              <a:spcBef>
                <a:spcPts val="100"/>
              </a:spcBef>
            </a:pPr>
            <a:r>
              <a:rPr lang="en-US" sz="3600" b="1" dirty="0" smtClean="0"/>
              <a:t>✅ </a:t>
            </a:r>
            <a:r>
              <a:rPr sz="3200" b="1" spc="-10" dirty="0" smtClean="0">
                <a:solidFill>
                  <a:srgbClr val="484848"/>
                </a:solidFill>
                <a:latin typeface="Calibri"/>
                <a:cs typeface="Calibri"/>
              </a:rPr>
              <a:t>Our</a:t>
            </a:r>
            <a:r>
              <a:rPr sz="3200" b="1" spc="-150" dirty="0" smtClean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b="1" spc="-50" dirty="0">
                <a:solidFill>
                  <a:srgbClr val="4F4F4F"/>
                </a:solidFill>
                <a:latin typeface="Calibri"/>
                <a:cs typeface="Calibri"/>
              </a:rPr>
              <a:t>project</a:t>
            </a:r>
            <a:r>
              <a:rPr sz="3200" b="1" spc="-9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200" b="1" spc="-70" dirty="0">
                <a:solidFill>
                  <a:srgbClr val="444444"/>
                </a:solidFill>
                <a:latin typeface="Calibri"/>
                <a:cs typeface="Calibri"/>
              </a:rPr>
              <a:t>automates</a:t>
            </a:r>
            <a:r>
              <a:rPr sz="3200" b="1" spc="-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b="1" spc="-65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3200" b="1" spc="-18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b="1" spc="-90" dirty="0">
                <a:solidFill>
                  <a:srgbClr val="4B4B4B"/>
                </a:solidFill>
                <a:latin typeface="Calibri"/>
                <a:cs typeface="Calibri"/>
              </a:rPr>
              <a:t>measurement</a:t>
            </a:r>
            <a:r>
              <a:rPr sz="3200" b="1" spc="19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200" b="1" spc="-80" dirty="0">
                <a:solidFill>
                  <a:srgbClr val="525252"/>
                </a:solidFill>
                <a:latin typeface="Calibri"/>
                <a:cs typeface="Calibri"/>
              </a:rPr>
              <a:t>of</a:t>
            </a:r>
            <a:r>
              <a:rPr sz="3200" b="1" spc="-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200" b="1" spc="-80" dirty="0">
                <a:solidFill>
                  <a:srgbClr val="525252"/>
                </a:solidFill>
                <a:latin typeface="Calibri"/>
                <a:cs typeface="Calibri"/>
              </a:rPr>
              <a:t>these</a:t>
            </a:r>
            <a:r>
              <a:rPr sz="3200" b="1" spc="-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200" b="1" spc="-40" dirty="0">
                <a:solidFill>
                  <a:srgbClr val="494949"/>
                </a:solidFill>
                <a:latin typeface="Calibri"/>
                <a:cs typeface="Calibri"/>
              </a:rPr>
              <a:t>variables</a:t>
            </a:r>
            <a:r>
              <a:rPr sz="3200" b="1" spc="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b="1" spc="-30" dirty="0">
                <a:solidFill>
                  <a:srgbClr val="444444"/>
                </a:solidFill>
                <a:latin typeface="Calibri"/>
                <a:cs typeface="Calibri"/>
              </a:rPr>
              <a:t>into</a:t>
            </a:r>
            <a:r>
              <a:rPr sz="3200" b="1" spc="-1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lang="en-US" sz="3200" b="1" spc="-50" dirty="0">
                <a:solidFill>
                  <a:schemeClr val="tx1"/>
                </a:solidFill>
                <a:latin typeface="Calibri"/>
                <a:cs typeface="Calibri"/>
              </a:rPr>
              <a:t>a</a:t>
            </a:r>
            <a:r>
              <a:rPr sz="3200" b="1" spc="-50" dirty="0" smtClean="0">
                <a:solidFill>
                  <a:srgbClr val="7E8E9E"/>
                </a:solidFill>
                <a:latin typeface="Calibri"/>
                <a:cs typeface="Calibri"/>
              </a:rPr>
              <a:t> </a:t>
            </a:r>
            <a:r>
              <a:rPr sz="3200" b="1" spc="-40" dirty="0">
                <a:solidFill>
                  <a:srgbClr val="494949"/>
                </a:solidFill>
                <a:latin typeface="Calibri"/>
                <a:cs typeface="Calibri"/>
              </a:rPr>
              <a:t>single</a:t>
            </a:r>
            <a:r>
              <a:rPr sz="3200" b="1" spc="-1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b="1" spc="-55" dirty="0">
                <a:solidFill>
                  <a:srgbClr val="464646"/>
                </a:solidFill>
                <a:latin typeface="Calibri"/>
                <a:cs typeface="Calibri"/>
              </a:rPr>
              <a:t>health</a:t>
            </a:r>
            <a:r>
              <a:rPr sz="3200" b="1" spc="-5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444444"/>
                </a:solidFill>
                <a:latin typeface="Calibri"/>
                <a:cs typeface="Calibri"/>
              </a:rPr>
              <a:t>score.</a:t>
            </a:r>
            <a:endParaRPr sz="3200" b="1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9557" y="2301875"/>
            <a:ext cx="6782530" cy="785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6245" algn="l"/>
              </a:tabLst>
            </a:pPr>
            <a:r>
              <a:rPr b="1" spc="-550" dirty="0">
                <a:solidFill>
                  <a:srgbClr val="186DE1"/>
                </a:solidFill>
              </a:rPr>
              <a:t>)</a:t>
            </a:r>
            <a:r>
              <a:rPr b="1" dirty="0">
                <a:solidFill>
                  <a:srgbClr val="186DE1"/>
                </a:solidFill>
              </a:rPr>
              <a:t>	</a:t>
            </a:r>
            <a:r>
              <a:rPr b="1" spc="245" dirty="0">
                <a:solidFill>
                  <a:srgbClr val="181818"/>
                </a:solidFill>
              </a:rPr>
              <a:t>CORE</a:t>
            </a:r>
            <a:r>
              <a:rPr b="1" spc="280" dirty="0">
                <a:solidFill>
                  <a:srgbClr val="181818"/>
                </a:solidFill>
              </a:rPr>
              <a:t> </a:t>
            </a:r>
            <a:r>
              <a:rPr b="1" spc="295" dirty="0">
                <a:solidFill>
                  <a:srgbClr val="131313"/>
                </a:solidFill>
              </a:rPr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41450" y="4877727"/>
            <a:ext cx="3212465" cy="39254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22860" algn="ctr">
              <a:lnSpc>
                <a:spcPct val="100000"/>
              </a:lnSpc>
              <a:spcBef>
                <a:spcPts val="105"/>
              </a:spcBef>
            </a:pPr>
            <a:r>
              <a:rPr sz="4400" spc="110" dirty="0">
                <a:solidFill>
                  <a:srgbClr val="1A42BD"/>
                </a:solidFill>
                <a:latin typeface="Calibri"/>
                <a:cs typeface="Calibri"/>
              </a:rPr>
              <a:t>Latency</a:t>
            </a:r>
            <a:endParaRPr sz="4400" dirty="0">
              <a:latin typeface="Calibri"/>
              <a:cs typeface="Calibri"/>
            </a:endParaRPr>
          </a:p>
          <a:p>
            <a:pPr marL="12700" marR="5080" indent="-5080" algn="ctr">
              <a:lnSpc>
                <a:spcPct val="122000"/>
              </a:lnSpc>
              <a:spcBef>
                <a:spcPts val="1750"/>
              </a:spcBef>
            </a:pPr>
            <a:r>
              <a:rPr sz="3200" spc="-30" dirty="0">
                <a:solidFill>
                  <a:srgbClr val="494949"/>
                </a:solidFill>
                <a:latin typeface="Calibri"/>
                <a:cs typeface="Calibri"/>
              </a:rPr>
              <a:t>Precise</a:t>
            </a:r>
            <a:r>
              <a:rPr sz="3200" spc="-2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spc="-80" dirty="0">
                <a:solidFill>
                  <a:srgbClr val="444444"/>
                </a:solidFill>
                <a:latin typeface="Calibri"/>
                <a:cs typeface="Calibri"/>
              </a:rPr>
              <a:t>measurement</a:t>
            </a:r>
            <a:r>
              <a:rPr sz="3200" spc="-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505050"/>
                </a:solidFill>
                <a:latin typeface="Calibri"/>
                <a:cs typeface="Calibri"/>
              </a:rPr>
              <a:t>of </a:t>
            </a:r>
            <a:r>
              <a:rPr sz="3200" spc="-25" dirty="0">
                <a:solidFill>
                  <a:srgbClr val="424242"/>
                </a:solidFill>
                <a:latin typeface="Calibri"/>
                <a:cs typeface="Calibri"/>
              </a:rPr>
              <a:t>Round</a:t>
            </a:r>
            <a:r>
              <a:rPr sz="3200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65972"/>
                </a:solidFill>
                <a:latin typeface="Calibri"/>
                <a:cs typeface="Calibri"/>
              </a:rPr>
              <a:t>Trip</a:t>
            </a:r>
            <a:r>
              <a:rPr sz="3200" spc="-65" dirty="0">
                <a:solidFill>
                  <a:srgbClr val="46597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64646"/>
                </a:solidFill>
                <a:latin typeface="Calibri"/>
                <a:cs typeface="Calibri"/>
              </a:rPr>
              <a:t>Time(RTT)</a:t>
            </a:r>
            <a:r>
              <a:rPr sz="3200" spc="10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41596E"/>
                </a:solidFill>
                <a:latin typeface="Calibri"/>
                <a:cs typeface="Calibri"/>
              </a:rPr>
              <a:t>for </a:t>
            </a:r>
            <a:r>
              <a:rPr sz="3200" spc="-40" dirty="0">
                <a:solidFill>
                  <a:srgbClr val="4B4B4B"/>
                </a:solidFill>
                <a:latin typeface="Calibri"/>
                <a:cs typeface="Calibri"/>
              </a:rPr>
              <a:t>data</a:t>
            </a:r>
            <a:r>
              <a:rPr sz="3200" spc="-15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200" spc="-80" dirty="0">
                <a:solidFill>
                  <a:srgbClr val="464646"/>
                </a:solidFill>
                <a:latin typeface="Calibri"/>
                <a:cs typeface="Calibri"/>
              </a:rPr>
              <a:t>packets</a:t>
            </a:r>
            <a:r>
              <a:rPr sz="320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spc="-60" dirty="0">
                <a:solidFill>
                  <a:srgbClr val="484848"/>
                </a:solidFill>
                <a:latin typeface="Calibri"/>
                <a:cs typeface="Calibri"/>
              </a:rPr>
              <a:t>across</a:t>
            </a:r>
            <a:r>
              <a:rPr sz="3200" spc="-4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484848"/>
                </a:solidFill>
                <a:latin typeface="Calibri"/>
                <a:cs typeface="Calibri"/>
              </a:rPr>
              <a:t>TCP.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7874" y="4877727"/>
            <a:ext cx="3223260" cy="386644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</a:pPr>
            <a:r>
              <a:rPr sz="4000" spc="135" dirty="0">
                <a:solidFill>
                  <a:srgbClr val="2848B1"/>
                </a:solidFill>
                <a:latin typeface="Calibri"/>
                <a:cs typeface="Calibri"/>
              </a:rPr>
              <a:t>Jitter</a:t>
            </a:r>
            <a:endParaRPr sz="4000" dirty="0">
              <a:latin typeface="Calibri"/>
              <a:cs typeface="Calibri"/>
            </a:endParaRPr>
          </a:p>
          <a:p>
            <a:pPr marL="12065" marR="5080" algn="ctr">
              <a:lnSpc>
                <a:spcPct val="122000"/>
              </a:lnSpc>
              <a:spcBef>
                <a:spcPts val="1780"/>
              </a:spcBef>
            </a:pPr>
            <a:r>
              <a:rPr sz="3200" spc="-10" dirty="0">
                <a:solidFill>
                  <a:srgbClr val="414141"/>
                </a:solidFill>
                <a:latin typeface="Calibri"/>
                <a:cs typeface="Calibri"/>
              </a:rPr>
              <a:t>Analysis</a:t>
            </a:r>
            <a:r>
              <a:rPr sz="3200" spc="-4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505050"/>
                </a:solidFill>
                <a:latin typeface="Calibri"/>
                <a:cs typeface="Calibri"/>
              </a:rPr>
              <a:t>of</a:t>
            </a:r>
            <a:r>
              <a:rPr sz="3200" spc="-165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3200" spc="-55" dirty="0">
                <a:solidFill>
                  <a:srgbClr val="3F3F3F"/>
                </a:solidFill>
                <a:latin typeface="Calibri"/>
                <a:cs typeface="Calibri"/>
              </a:rPr>
              <a:t>delay</a:t>
            </a:r>
            <a:r>
              <a:rPr sz="3200" spc="-1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94949"/>
                </a:solidFill>
                <a:latin typeface="Calibri"/>
                <a:cs typeface="Calibri"/>
              </a:rPr>
              <a:t>variation </a:t>
            </a:r>
            <a:r>
              <a:rPr sz="3200" spc="-30" dirty="0">
                <a:solidFill>
                  <a:srgbClr val="4F4F4F"/>
                </a:solidFill>
                <a:latin typeface="Calibri"/>
                <a:cs typeface="Calibri"/>
              </a:rPr>
              <a:t>to</a:t>
            </a:r>
            <a:r>
              <a:rPr sz="3200" spc="-21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200" spc="-70" dirty="0">
                <a:solidFill>
                  <a:srgbClr val="424242"/>
                </a:solidFill>
                <a:latin typeface="Calibri"/>
                <a:cs typeface="Calibri"/>
              </a:rPr>
              <a:t>determine</a:t>
            </a:r>
            <a:r>
              <a:rPr sz="3200" spc="-1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B4B4B"/>
                </a:solidFill>
                <a:latin typeface="Calibri"/>
                <a:cs typeface="Calibri"/>
              </a:rPr>
              <a:t>connection </a:t>
            </a:r>
            <a:r>
              <a:rPr sz="3200" spc="-10" dirty="0">
                <a:solidFill>
                  <a:srgbClr val="3B3B3B"/>
                </a:solidFill>
                <a:latin typeface="Calibri"/>
                <a:cs typeface="Calibri"/>
              </a:rPr>
              <a:t>stability</a:t>
            </a:r>
            <a:r>
              <a:rPr sz="3200" spc="-1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464646"/>
                </a:solidFill>
                <a:latin typeface="Calibri"/>
                <a:cs typeface="Calibri"/>
              </a:rPr>
              <a:t>over</a:t>
            </a:r>
            <a:r>
              <a:rPr sz="3200" spc="-9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B3B3B"/>
                </a:solidFill>
                <a:latin typeface="Calibri"/>
                <a:cs typeface="Calibri"/>
              </a:rPr>
              <a:t>time.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2489" y="4855502"/>
            <a:ext cx="2857500" cy="4437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25"/>
              </a:spcBef>
            </a:pPr>
            <a:r>
              <a:rPr sz="4000" spc="75" dirty="0">
                <a:solidFill>
                  <a:srgbClr val="243BBC"/>
                </a:solidFill>
                <a:latin typeface="Calibri"/>
                <a:cs typeface="Calibri"/>
              </a:rPr>
              <a:t>DNS</a:t>
            </a:r>
            <a:r>
              <a:rPr sz="4000" spc="-200" dirty="0">
                <a:solidFill>
                  <a:srgbClr val="243BBC"/>
                </a:solidFill>
                <a:latin typeface="Calibri"/>
                <a:cs typeface="Calibri"/>
              </a:rPr>
              <a:t> </a:t>
            </a:r>
            <a:r>
              <a:rPr sz="4000" spc="150" dirty="0">
                <a:solidFill>
                  <a:srgbClr val="1A42B3"/>
                </a:solidFill>
                <a:latin typeface="Calibri"/>
                <a:cs typeface="Calibri"/>
              </a:rPr>
              <a:t>Health</a:t>
            </a:r>
            <a:endParaRPr sz="4000" dirty="0">
              <a:latin typeface="Calibri"/>
              <a:cs typeface="Calibri"/>
            </a:endParaRPr>
          </a:p>
          <a:p>
            <a:pPr marL="12700" marR="5080" algn="ctr">
              <a:lnSpc>
                <a:spcPct val="120600"/>
              </a:lnSpc>
              <a:spcBef>
                <a:spcPts val="1820"/>
              </a:spcBef>
            </a:pPr>
            <a:r>
              <a:rPr sz="3200" spc="-35" dirty="0">
                <a:solidFill>
                  <a:srgbClr val="494949"/>
                </a:solidFill>
                <a:latin typeface="Calibri"/>
                <a:cs typeface="Calibri"/>
              </a:rPr>
              <a:t>Validation</a:t>
            </a:r>
            <a:r>
              <a:rPr sz="3200" spc="-6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484848"/>
                </a:solidFill>
                <a:latin typeface="Calibri"/>
                <a:cs typeface="Calibri"/>
              </a:rPr>
              <a:t>of</a:t>
            </a:r>
            <a:r>
              <a:rPr sz="3200" spc="-16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4B4B4B"/>
                </a:solidFill>
                <a:latin typeface="Calibri"/>
                <a:cs typeface="Calibri"/>
              </a:rPr>
              <a:t>hostname </a:t>
            </a:r>
            <a:r>
              <a:rPr sz="3200" spc="-35" dirty="0">
                <a:solidFill>
                  <a:srgbClr val="464646"/>
                </a:solidFill>
                <a:latin typeface="Calibri"/>
                <a:cs typeface="Calibri"/>
              </a:rPr>
              <a:t>resolution</a:t>
            </a:r>
            <a:r>
              <a:rPr sz="3200" spc="-6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4F4F4F"/>
                </a:solidFill>
                <a:latin typeface="Calibri"/>
                <a:cs typeface="Calibri"/>
              </a:rPr>
              <a:t>to</a:t>
            </a:r>
            <a:r>
              <a:rPr sz="3200" spc="-24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63636"/>
                </a:solidFill>
                <a:latin typeface="Calibri"/>
                <a:cs typeface="Calibri"/>
              </a:rPr>
              <a:t>ensure </a:t>
            </a:r>
            <a:r>
              <a:rPr sz="3200" spc="-65" dirty="0">
                <a:solidFill>
                  <a:srgbClr val="444444"/>
                </a:solidFill>
                <a:latin typeface="Calibri"/>
                <a:cs typeface="Calibri"/>
              </a:rPr>
              <a:t>address</a:t>
            </a:r>
            <a:r>
              <a:rPr sz="3200" spc="1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525252"/>
                </a:solidFill>
                <a:latin typeface="Calibri"/>
                <a:cs typeface="Calibri"/>
              </a:rPr>
              <a:t>translation</a:t>
            </a:r>
            <a:r>
              <a:rPr sz="32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4D4D4D"/>
                </a:solidFill>
                <a:latin typeface="Calibri"/>
                <a:cs typeface="Calibri"/>
              </a:rPr>
              <a:t>is </a:t>
            </a:r>
            <a:r>
              <a:rPr sz="3200" spc="-10" dirty="0">
                <a:solidFill>
                  <a:srgbClr val="4B4B4B"/>
                </a:solidFill>
                <a:latin typeface="Calibri"/>
                <a:cs typeface="Calibri"/>
              </a:rPr>
              <a:t>optimal.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38450" y="4877727"/>
            <a:ext cx="3084830" cy="3265638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38735" algn="ctr">
              <a:lnSpc>
                <a:spcPct val="100000"/>
              </a:lnSpc>
              <a:spcBef>
                <a:spcPts val="125"/>
              </a:spcBef>
            </a:pPr>
            <a:r>
              <a:rPr sz="4000" spc="145" dirty="0">
                <a:solidFill>
                  <a:srgbClr val="2444B5"/>
                </a:solidFill>
                <a:latin typeface="Calibri"/>
                <a:cs typeface="Calibri"/>
              </a:rPr>
              <a:t>Scoring</a:t>
            </a:r>
            <a:endParaRPr sz="4000" dirty="0">
              <a:latin typeface="Calibri"/>
              <a:cs typeface="Calibri"/>
            </a:endParaRPr>
          </a:p>
          <a:p>
            <a:pPr marL="12700" marR="5080" algn="ctr">
              <a:lnSpc>
                <a:spcPct val="122000"/>
              </a:lnSpc>
              <a:spcBef>
                <a:spcPts val="1780"/>
              </a:spcBef>
            </a:pPr>
            <a:r>
              <a:rPr sz="3200" spc="-50" dirty="0">
                <a:solidFill>
                  <a:srgbClr val="464646"/>
                </a:solidFill>
                <a:latin typeface="Calibri"/>
                <a:cs typeface="Calibri"/>
              </a:rPr>
              <a:t>Generating</a:t>
            </a:r>
            <a:r>
              <a:rPr sz="3200" spc="-4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spc="-65" dirty="0">
                <a:solidFill>
                  <a:srgbClr val="525252"/>
                </a:solidFill>
                <a:latin typeface="Calibri"/>
                <a:cs typeface="Calibri"/>
              </a:rPr>
              <a:t>a</a:t>
            </a:r>
            <a:r>
              <a:rPr sz="3200" spc="-2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200" spc="-55" dirty="0">
                <a:solidFill>
                  <a:srgbClr val="484848"/>
                </a:solidFill>
                <a:latin typeface="Calibri"/>
                <a:cs typeface="Calibri"/>
              </a:rPr>
              <a:t>weighted</a:t>
            </a:r>
            <a:r>
              <a:rPr sz="3200" spc="-11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484848"/>
                </a:solidFill>
                <a:latin typeface="Calibri"/>
                <a:cs typeface="Calibri"/>
              </a:rPr>
              <a:t>0- </a:t>
            </a:r>
            <a:r>
              <a:rPr sz="3200" spc="-25" dirty="0">
                <a:solidFill>
                  <a:srgbClr val="3D3D3D"/>
                </a:solidFill>
                <a:latin typeface="Calibri"/>
                <a:cs typeface="Calibri"/>
              </a:rPr>
              <a:t>100</a:t>
            </a:r>
            <a:r>
              <a:rPr sz="3200" spc="-2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494949"/>
                </a:solidFill>
                <a:latin typeface="Calibri"/>
                <a:cs typeface="Calibri"/>
              </a:rPr>
              <a:t>health</a:t>
            </a:r>
            <a:r>
              <a:rPr sz="3200" spc="-10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spc="-85" dirty="0">
                <a:solidFill>
                  <a:srgbClr val="565656"/>
                </a:solidFill>
                <a:latin typeface="Calibri"/>
                <a:cs typeface="Calibri"/>
              </a:rPr>
              <a:t>index</a:t>
            </a:r>
            <a:r>
              <a:rPr sz="3200" spc="-5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525252"/>
                </a:solidFill>
                <a:latin typeface="Calibri"/>
                <a:cs typeface="Calibri"/>
              </a:rPr>
              <a:t>for </a:t>
            </a:r>
            <a:r>
              <a:rPr sz="3200" spc="-45" dirty="0">
                <a:solidFill>
                  <a:srgbClr val="4D4D4D"/>
                </a:solidFill>
                <a:latin typeface="Calibri"/>
                <a:cs typeface="Calibri"/>
              </a:rPr>
              <a:t>simplified</a:t>
            </a:r>
            <a:r>
              <a:rPr sz="3200" spc="-6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44444"/>
                </a:solidFill>
                <a:latin typeface="Calibri"/>
                <a:cs typeface="Calibri"/>
              </a:rPr>
              <a:t>analysis.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8050" y="1844675"/>
            <a:ext cx="670560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  <a:tab pos="3829685" algn="l"/>
              </a:tabLst>
            </a:pPr>
            <a:r>
              <a:rPr sz="5150" b="1" spc="-600" dirty="0">
                <a:solidFill>
                  <a:srgbClr val="186DE1"/>
                </a:solidFill>
              </a:rPr>
              <a:t>)</a:t>
            </a:r>
            <a:r>
              <a:rPr sz="5150" b="1" dirty="0">
                <a:solidFill>
                  <a:srgbClr val="186DE1"/>
                </a:solidFill>
              </a:rPr>
              <a:t>	</a:t>
            </a:r>
            <a:r>
              <a:rPr sz="5150" b="1" spc="114" dirty="0">
                <a:solidFill>
                  <a:srgbClr val="151515"/>
                </a:solidFill>
              </a:rPr>
              <a:t>TECHNICAL</a:t>
            </a:r>
            <a:r>
              <a:rPr sz="5150" b="1" dirty="0">
                <a:solidFill>
                  <a:srgbClr val="151515"/>
                </a:solidFill>
              </a:rPr>
              <a:t>	</a:t>
            </a:r>
            <a:r>
              <a:rPr sz="5150" b="1" spc="300" dirty="0">
                <a:solidFill>
                  <a:srgbClr val="131313"/>
                </a:solidFill>
              </a:rPr>
              <a:t>STACK</a:t>
            </a:r>
            <a:endParaRPr sz="5150" b="1"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994501"/>
              </p:ext>
            </p:extLst>
          </p:nvPr>
        </p:nvGraphicFramePr>
        <p:xfrm>
          <a:off x="1222665" y="4203896"/>
          <a:ext cx="17211385" cy="55098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09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36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7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735">
                <a:tc>
                  <a:txBody>
                    <a:bodyPr/>
                    <a:lstStyle/>
                    <a:p>
                      <a:pPr marL="42545">
                        <a:lnSpc>
                          <a:spcPts val="2325"/>
                        </a:lnSpc>
                      </a:pPr>
                      <a:r>
                        <a:rPr sz="3600" spc="-10" dirty="0">
                          <a:solidFill>
                            <a:srgbClr val="1641AF"/>
                          </a:solidFill>
                          <a:latin typeface="Calibri"/>
                          <a:cs typeface="Calibri"/>
                        </a:rPr>
                        <a:t>Category</a:t>
                      </a:r>
                      <a:endParaRPr sz="3600" dirty="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3785">
                        <a:lnSpc>
                          <a:spcPts val="2325"/>
                        </a:lnSpc>
                      </a:pPr>
                      <a:r>
                        <a:rPr sz="3600" spc="-10" dirty="0">
                          <a:solidFill>
                            <a:srgbClr val="133BB5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98550">
                        <a:lnSpc>
                          <a:spcPts val="2325"/>
                        </a:lnSpc>
                      </a:pPr>
                      <a:r>
                        <a:rPr sz="3600" dirty="0">
                          <a:solidFill>
                            <a:srgbClr val="2F4FA8"/>
                          </a:solidFill>
                          <a:latin typeface="Calibri"/>
                          <a:cs typeface="Calibri"/>
                        </a:rPr>
                        <a:t>Role</a:t>
                      </a:r>
                      <a:r>
                        <a:rPr sz="3600" spc="-105" dirty="0">
                          <a:solidFill>
                            <a:srgbClr val="2F4FA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70" dirty="0">
                          <a:solidFill>
                            <a:srgbClr val="233F93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3600" spc="-300" dirty="0">
                          <a:solidFill>
                            <a:srgbClr val="233F93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solidFill>
                            <a:srgbClr val="2B3FB5"/>
                          </a:solidFill>
                          <a:latin typeface="Calibri"/>
                          <a:cs typeface="Calibri"/>
                        </a:rPr>
                        <a:t>Project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31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390"/>
                        </a:spcBef>
                      </a:pPr>
                      <a:r>
                        <a:rPr sz="3200" spc="-10" dirty="0">
                          <a:solidFill>
                            <a:srgbClr val="3F4D62"/>
                          </a:solidFill>
                          <a:latin typeface="Consolas"/>
                          <a:cs typeface="Consolas"/>
                        </a:rPr>
                        <a:t>Language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T="303530" marB="0"/>
                </a:tc>
                <a:tc>
                  <a:txBody>
                    <a:bodyPr/>
                    <a:lstStyle/>
                    <a:p>
                      <a:pPr marL="107378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30" dirty="0">
                          <a:solidFill>
                            <a:srgbClr val="505050"/>
                          </a:solidFill>
                          <a:latin typeface="Calibri"/>
                          <a:cs typeface="Calibri"/>
                        </a:rPr>
                        <a:t>Python</a:t>
                      </a:r>
                      <a:r>
                        <a:rPr sz="3600" spc="-85" dirty="0">
                          <a:solidFill>
                            <a:srgbClr val="50505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25" dirty="0">
                          <a:solidFill>
                            <a:srgbClr val="4D4D4D"/>
                          </a:solidFill>
                          <a:latin typeface="Calibri"/>
                          <a:cs typeface="Calibri"/>
                        </a:rPr>
                        <a:t>3.x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tc>
                  <a:txBody>
                    <a:bodyPr/>
                    <a:lstStyle/>
                    <a:p>
                      <a:pPr marL="1102360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10" dirty="0">
                          <a:solidFill>
                            <a:srgbClr val="4D4D4D"/>
                          </a:solidFill>
                          <a:latin typeface="Calibri"/>
                          <a:cs typeface="Calibri"/>
                        </a:rPr>
                        <a:t>Core</a:t>
                      </a:r>
                      <a:r>
                        <a:rPr sz="3600" spc="-170" dirty="0">
                          <a:solidFill>
                            <a:srgbClr val="4D4D4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20" dirty="0">
                          <a:solidFill>
                            <a:srgbClr val="4F4F4F"/>
                          </a:solidFill>
                          <a:latin typeface="Calibri"/>
                          <a:cs typeface="Calibri"/>
                        </a:rPr>
                        <a:t>logic</a:t>
                      </a:r>
                      <a:r>
                        <a:rPr sz="3600" spc="-105" dirty="0">
                          <a:solidFill>
                            <a:srgbClr val="4F4F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85" dirty="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3600" spc="-130" dirty="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10" dirty="0">
                          <a:solidFill>
                            <a:srgbClr val="4B4B4B"/>
                          </a:solidFill>
                          <a:latin typeface="Calibri"/>
                          <a:cs typeface="Calibri"/>
                        </a:rPr>
                        <a:t>backend</a:t>
                      </a:r>
                      <a:r>
                        <a:rPr sz="3600" spc="-95" dirty="0">
                          <a:solidFill>
                            <a:srgbClr val="4B4B4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solidFill>
                            <a:srgbClr val="4F4F4F"/>
                          </a:solidFill>
                          <a:latin typeface="Calibri"/>
                          <a:cs typeface="Calibri"/>
                        </a:rPr>
                        <a:t>processing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319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10" dirty="0">
                          <a:solidFill>
                            <a:srgbClr val="3A5677"/>
                          </a:solidFill>
                          <a:latin typeface="Calibri"/>
                          <a:cs typeface="Calibri"/>
                        </a:rPr>
                        <a:t>Networking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tc>
                  <a:txBody>
                    <a:bodyPr/>
                    <a:lstStyle/>
                    <a:p>
                      <a:pPr marL="108140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75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Socket</a:t>
                      </a:r>
                      <a:r>
                        <a:rPr sz="3600" spc="-45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solidFill>
                            <a:srgbClr val="4B4B4B"/>
                          </a:solidFill>
                          <a:latin typeface="Calibri"/>
                          <a:cs typeface="Calibri"/>
                        </a:rPr>
                        <a:t>Library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tc>
                  <a:txBody>
                    <a:bodyPr/>
                    <a:lstStyle/>
                    <a:p>
                      <a:pPr marL="1098550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95" dirty="0">
                          <a:solidFill>
                            <a:srgbClr val="4F4F4F"/>
                          </a:solidFill>
                          <a:latin typeface="Calibri"/>
                          <a:cs typeface="Calibri"/>
                        </a:rPr>
                        <a:t>TCP</a:t>
                      </a:r>
                      <a:r>
                        <a:rPr sz="3600" spc="-229" dirty="0">
                          <a:solidFill>
                            <a:srgbClr val="4F4F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55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connection</a:t>
                      </a:r>
                      <a:r>
                        <a:rPr sz="3600" spc="-15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30" dirty="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testing</a:t>
                      </a:r>
                      <a:r>
                        <a:rPr sz="3600" spc="-215" dirty="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solidFill>
                            <a:srgbClr val="415669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3600" spc="-175" dirty="0">
                          <a:solidFill>
                            <a:srgbClr val="41566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solidFill>
                            <a:srgbClr val="424242"/>
                          </a:solidFill>
                          <a:latin typeface="Calibri"/>
                          <a:cs typeface="Calibri"/>
                        </a:rPr>
                        <a:t>timing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631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390"/>
                        </a:spcBef>
                      </a:pPr>
                      <a:r>
                        <a:rPr sz="3200" dirty="0">
                          <a:solidFill>
                            <a:srgbClr val="42546B"/>
                          </a:solidFill>
                          <a:latin typeface="Calibri"/>
                          <a:cs typeface="Calibri"/>
                        </a:rPr>
                        <a:t>UI</a:t>
                      </a:r>
                      <a:r>
                        <a:rPr sz="3200" spc="140" dirty="0">
                          <a:solidFill>
                            <a:srgbClr val="42546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200" spc="-10" dirty="0">
                          <a:solidFill>
                            <a:srgbClr val="3B597B"/>
                          </a:solidFill>
                          <a:latin typeface="Calibri"/>
                          <a:cs typeface="Calibri"/>
                        </a:rPr>
                        <a:t>Framework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T="303530" marB="0"/>
                </a:tc>
                <a:tc>
                  <a:txBody>
                    <a:bodyPr/>
                    <a:lstStyle/>
                    <a:p>
                      <a:pPr marL="107378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1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Tkinter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tc>
                  <a:txBody>
                    <a:bodyPr/>
                    <a:lstStyle/>
                    <a:p>
                      <a:pPr marL="110299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40" dirty="0">
                          <a:solidFill>
                            <a:srgbClr val="3D3D3D"/>
                          </a:solidFill>
                          <a:latin typeface="Calibri"/>
                          <a:cs typeface="Calibri"/>
                        </a:rPr>
                        <a:t>Graphical</a:t>
                      </a:r>
                      <a:r>
                        <a:rPr sz="3600" spc="-10" dirty="0">
                          <a:solidFill>
                            <a:srgbClr val="3D3D3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25" dirty="0">
                          <a:solidFill>
                            <a:srgbClr val="464646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3600" spc="-110" dirty="0">
                          <a:solidFill>
                            <a:srgbClr val="464646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50" dirty="0">
                          <a:solidFill>
                            <a:srgbClr val="4F4F4F"/>
                          </a:solidFill>
                          <a:latin typeface="Calibri"/>
                          <a:cs typeface="Calibri"/>
                        </a:rPr>
                        <a:t>Interface</a:t>
                      </a:r>
                      <a:r>
                        <a:rPr sz="3600" spc="-170" dirty="0">
                          <a:solidFill>
                            <a:srgbClr val="4F4F4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solidFill>
                            <a:srgbClr val="444444"/>
                          </a:solidFill>
                          <a:latin typeface="Calibri"/>
                          <a:cs typeface="Calibri"/>
                        </a:rPr>
                        <a:t>implementation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373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10" dirty="0">
                          <a:solidFill>
                            <a:srgbClr val="4B4B4B"/>
                          </a:solidFill>
                          <a:latin typeface="Calibri"/>
                          <a:cs typeface="Calibri"/>
                        </a:rPr>
                        <a:t>Analytics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tc>
                  <a:txBody>
                    <a:bodyPr/>
                    <a:lstStyle/>
                    <a:p>
                      <a:pPr marL="1081405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10" dirty="0">
                          <a:solidFill>
                            <a:srgbClr val="464646"/>
                          </a:solidFill>
                          <a:latin typeface="Calibri"/>
                          <a:cs typeface="Calibri"/>
                        </a:rPr>
                        <a:t>Statistics/Time</a:t>
                      </a:r>
                      <a:endParaRPr sz="360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tc>
                  <a:txBody>
                    <a:bodyPr/>
                    <a:lstStyle/>
                    <a:p>
                      <a:pPr marL="1098550">
                        <a:lnSpc>
                          <a:spcPct val="100000"/>
                        </a:lnSpc>
                        <a:spcBef>
                          <a:spcPts val="2240"/>
                        </a:spcBef>
                      </a:pPr>
                      <a:r>
                        <a:rPr sz="3600" spc="-5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Mathematical</a:t>
                      </a:r>
                      <a:r>
                        <a:rPr sz="3600" spc="-20" dirty="0">
                          <a:solidFill>
                            <a:srgbClr val="3F3F3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35" dirty="0">
                          <a:solidFill>
                            <a:srgbClr val="4B4B4B"/>
                          </a:solidFill>
                          <a:latin typeface="Calibri"/>
                          <a:cs typeface="Calibri"/>
                        </a:rPr>
                        <a:t>calculations</a:t>
                      </a:r>
                      <a:r>
                        <a:rPr sz="3600" spc="10" dirty="0">
                          <a:solidFill>
                            <a:srgbClr val="4B4B4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for</a:t>
                      </a:r>
                      <a:r>
                        <a:rPr sz="3600" spc="-130" dirty="0">
                          <a:solidFill>
                            <a:srgbClr val="494949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Jitter</a:t>
                      </a:r>
                      <a:r>
                        <a:rPr sz="3600" spc="-185" dirty="0">
                          <a:solidFill>
                            <a:srgbClr val="41414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dirty="0">
                          <a:solidFill>
                            <a:srgbClr val="50596E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3600" spc="-215" dirty="0">
                          <a:solidFill>
                            <a:srgbClr val="50596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3600" spc="-10" dirty="0">
                          <a:solidFill>
                            <a:srgbClr val="484848"/>
                          </a:solidFill>
                          <a:latin typeface="Calibri"/>
                          <a:cs typeface="Calibri"/>
                        </a:rPr>
                        <a:t>Latency</a:t>
                      </a:r>
                      <a:endParaRPr sz="3600" dirty="0">
                        <a:latin typeface="Calibri"/>
                        <a:cs typeface="Calibri"/>
                      </a:endParaRPr>
                    </a:p>
                  </a:txBody>
                  <a:tcPr marL="0" marR="0" marT="2844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8050" y="2454275"/>
            <a:ext cx="8382000" cy="785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2120" algn="l"/>
              </a:tabLst>
            </a:pPr>
            <a:r>
              <a:rPr b="1" spc="-550" dirty="0">
                <a:solidFill>
                  <a:srgbClr val="186DE1"/>
                </a:solidFill>
              </a:rPr>
              <a:t>)</a:t>
            </a:r>
            <a:r>
              <a:rPr b="1" dirty="0">
                <a:solidFill>
                  <a:srgbClr val="186DE1"/>
                </a:solidFill>
              </a:rPr>
              <a:t>	</a:t>
            </a:r>
            <a:r>
              <a:rPr b="1" spc="204" dirty="0">
                <a:solidFill>
                  <a:srgbClr val="131313"/>
                </a:solidFill>
              </a:rPr>
              <a:t>SYSTEM</a:t>
            </a:r>
            <a:r>
              <a:rPr b="1" spc="355" dirty="0">
                <a:solidFill>
                  <a:srgbClr val="131313"/>
                </a:solidFill>
              </a:rPr>
              <a:t> </a:t>
            </a:r>
            <a:r>
              <a:rPr b="1" spc="165" dirty="0"/>
              <a:t>ARCHITECTURE</a:t>
            </a:r>
          </a:p>
        </p:txBody>
      </p:sp>
      <p:sp>
        <p:nvSpPr>
          <p:cNvPr id="12" name="Text 0"/>
          <p:cNvSpPr/>
          <p:nvPr/>
        </p:nvSpPr>
        <p:spPr>
          <a:xfrm>
            <a:off x="3140353" y="349107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endParaRPr lang="en-US" sz="35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353" y="4511675"/>
            <a:ext cx="12935307" cy="5577959"/>
          </a:xfrm>
          <a:prstGeom prst="rect">
            <a:avLst/>
          </a:prstGeom>
        </p:spPr>
      </p:pic>
      <p:sp>
        <p:nvSpPr>
          <p:cNvPr id="14" name="Text 1"/>
          <p:cNvSpPr/>
          <p:nvPr/>
        </p:nvSpPr>
        <p:spPr>
          <a:xfrm>
            <a:off x="4337048" y="9214749"/>
            <a:ext cx="2934563" cy="36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Health Score</a:t>
            </a:r>
            <a:endParaRPr lang="en-US" sz="2800" dirty="0"/>
          </a:p>
        </p:txBody>
      </p:sp>
      <p:sp>
        <p:nvSpPr>
          <p:cNvPr id="15" name="Text 2"/>
          <p:cNvSpPr/>
          <p:nvPr/>
        </p:nvSpPr>
        <p:spPr>
          <a:xfrm>
            <a:off x="4337049" y="7866620"/>
            <a:ext cx="2934563" cy="36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TCP Testing</a:t>
            </a:r>
            <a:endParaRPr lang="en-US" sz="2800" dirty="0"/>
          </a:p>
        </p:txBody>
      </p:sp>
      <p:sp>
        <p:nvSpPr>
          <p:cNvPr id="16" name="Text 3"/>
          <p:cNvSpPr/>
          <p:nvPr/>
        </p:nvSpPr>
        <p:spPr>
          <a:xfrm>
            <a:off x="4337049" y="6646540"/>
            <a:ext cx="2934563" cy="36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DNS Resolution</a:t>
            </a:r>
            <a:endParaRPr lang="en-US" sz="2800" dirty="0"/>
          </a:p>
        </p:txBody>
      </p:sp>
      <p:sp>
        <p:nvSpPr>
          <p:cNvPr id="17" name="Text 4"/>
          <p:cNvSpPr/>
          <p:nvPr/>
        </p:nvSpPr>
        <p:spPr>
          <a:xfrm>
            <a:off x="4337050" y="5327895"/>
            <a:ext cx="2934563" cy="36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User Input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4250" y="2149475"/>
            <a:ext cx="8229600" cy="785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8625" algn="l"/>
              </a:tabLst>
            </a:pPr>
            <a:r>
              <a:rPr b="1" spc="-550" dirty="0">
                <a:solidFill>
                  <a:srgbClr val="186DE1"/>
                </a:solidFill>
              </a:rPr>
              <a:t>)</a:t>
            </a:r>
            <a:r>
              <a:rPr b="1" dirty="0">
                <a:solidFill>
                  <a:srgbClr val="186DE1"/>
                </a:solidFill>
              </a:rPr>
              <a:t>	</a:t>
            </a:r>
            <a:r>
              <a:rPr b="1" spc="275" dirty="0"/>
              <a:t>BACKEND</a:t>
            </a:r>
            <a:r>
              <a:rPr b="1" spc="195" dirty="0"/>
              <a:t> </a:t>
            </a:r>
            <a:r>
              <a:rPr b="1" spc="229" dirty="0">
                <a:solidFill>
                  <a:srgbClr val="111111"/>
                </a:solidFill>
              </a:rPr>
              <a:t>MECHANICS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7529" y="4600379"/>
            <a:ext cx="16100721" cy="51671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3600" b="1" dirty="0">
                <a:solidFill>
                  <a:srgbClr val="444444"/>
                </a:solidFill>
                <a:latin typeface="Calibri"/>
                <a:cs typeface="Calibri"/>
              </a:rPr>
              <a:t>Step</a:t>
            </a:r>
            <a:r>
              <a:rPr sz="3600" b="1" spc="-16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600" b="1" spc="-40" dirty="0">
                <a:solidFill>
                  <a:srgbClr val="4B4B4B"/>
                </a:solidFill>
                <a:latin typeface="Calibri"/>
                <a:cs typeface="Calibri"/>
              </a:rPr>
              <a:t>1:</a:t>
            </a:r>
            <a:r>
              <a:rPr sz="3600" b="1" spc="-21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84848"/>
                </a:solidFill>
                <a:latin typeface="Calibri"/>
                <a:cs typeface="Calibri"/>
              </a:rPr>
              <a:t>The</a:t>
            </a:r>
            <a:r>
              <a:rPr sz="3600" spc="-27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600" spc="-70" dirty="0">
                <a:solidFill>
                  <a:srgbClr val="3B3B3B"/>
                </a:solidFill>
                <a:latin typeface="Calibri"/>
                <a:cs typeface="Calibri"/>
              </a:rPr>
              <a:t>domain</a:t>
            </a:r>
            <a:r>
              <a:rPr sz="3600" spc="-10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spc="-120" dirty="0">
                <a:solidFill>
                  <a:srgbClr val="525252"/>
                </a:solidFill>
                <a:latin typeface="Calibri"/>
                <a:cs typeface="Calibri"/>
              </a:rPr>
              <a:t>(e.g.,</a:t>
            </a:r>
            <a:r>
              <a:rPr sz="3600" spc="-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600" spc="-95" dirty="0">
                <a:solidFill>
                  <a:srgbClr val="444444"/>
                </a:solidFill>
                <a:latin typeface="Calibri"/>
                <a:cs typeface="Calibri"/>
              </a:rPr>
              <a:t>googIe.com)</a:t>
            </a:r>
            <a:r>
              <a:rPr sz="3600" spc="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505050"/>
                </a:solidFill>
                <a:latin typeface="Calibri"/>
                <a:cs typeface="Calibri"/>
              </a:rPr>
              <a:t>is</a:t>
            </a:r>
            <a:r>
              <a:rPr sz="3600" spc="-19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3600" spc="-60" dirty="0">
                <a:solidFill>
                  <a:srgbClr val="424242"/>
                </a:solidFill>
                <a:latin typeface="Calibri"/>
                <a:cs typeface="Calibri"/>
              </a:rPr>
              <a:t>converted</a:t>
            </a:r>
            <a:r>
              <a:rPr sz="3600" spc="-2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444444"/>
                </a:solidFill>
                <a:latin typeface="Calibri"/>
                <a:cs typeface="Calibri"/>
              </a:rPr>
              <a:t>to</a:t>
            </a:r>
            <a:r>
              <a:rPr sz="3600" spc="-17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600" spc="-85" dirty="0">
                <a:solidFill>
                  <a:srgbClr val="3B3B3B"/>
                </a:solidFill>
                <a:latin typeface="Calibri"/>
                <a:cs typeface="Calibri"/>
              </a:rPr>
              <a:t>an</a:t>
            </a:r>
            <a:r>
              <a:rPr sz="3600" spc="-1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64F6B"/>
                </a:solidFill>
                <a:latin typeface="Calibri"/>
                <a:cs typeface="Calibri"/>
              </a:rPr>
              <a:t>IP</a:t>
            </a:r>
            <a:r>
              <a:rPr sz="3600" spc="70" dirty="0">
                <a:solidFill>
                  <a:srgbClr val="464F6B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3B3B3B"/>
                </a:solidFill>
                <a:latin typeface="Calibri"/>
                <a:cs typeface="Calibri"/>
              </a:rPr>
              <a:t>via</a:t>
            </a:r>
            <a:r>
              <a:rPr sz="3600" spc="-10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B4B4B"/>
                </a:solidFill>
                <a:latin typeface="Calibri"/>
                <a:cs typeface="Calibri"/>
              </a:rPr>
              <a:t>socket</a:t>
            </a:r>
            <a:r>
              <a:rPr sz="3600" spc="-5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45469"/>
                </a:solidFill>
                <a:latin typeface="Calibri"/>
                <a:cs typeface="Calibri"/>
              </a:rPr>
              <a:t>.</a:t>
            </a:r>
            <a:r>
              <a:rPr sz="3600" spc="-235" dirty="0">
                <a:solidFill>
                  <a:srgbClr val="445469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B3B3B"/>
                </a:solidFill>
                <a:latin typeface="Calibri"/>
                <a:cs typeface="Calibri"/>
              </a:rPr>
              <a:t>gethostbyname().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</a:pP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3200" b="1" dirty="0">
                <a:solidFill>
                  <a:srgbClr val="4F4F4F"/>
                </a:solidFill>
                <a:latin typeface="Arial MT"/>
                <a:cs typeface="Arial MT"/>
              </a:rPr>
              <a:t>Step</a:t>
            </a:r>
            <a:r>
              <a:rPr sz="3200" b="1" spc="-26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3200" b="1" dirty="0">
                <a:solidFill>
                  <a:srgbClr val="484848"/>
                </a:solidFill>
                <a:latin typeface="Arial MT"/>
                <a:cs typeface="Arial MT"/>
              </a:rPr>
              <a:t>2:</a:t>
            </a:r>
            <a:r>
              <a:rPr sz="3200" b="1" spc="-26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3200" spc="-2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3200" spc="-130" dirty="0">
                <a:solidFill>
                  <a:srgbClr val="4D4D4D"/>
                </a:solidFill>
                <a:latin typeface="Arial MT"/>
                <a:cs typeface="Arial MT"/>
              </a:rPr>
              <a:t>TCP</a:t>
            </a:r>
            <a:r>
              <a:rPr sz="3200" spc="-10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3200" spc="-75" dirty="0">
                <a:solidFill>
                  <a:srgbClr val="444444"/>
                </a:solidFill>
                <a:latin typeface="Arial MT"/>
                <a:cs typeface="Arial MT"/>
              </a:rPr>
              <a:t>socket</a:t>
            </a:r>
            <a:r>
              <a:rPr sz="3200" spc="8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83838"/>
                </a:solidFill>
                <a:latin typeface="Arial MT"/>
                <a:cs typeface="Arial MT"/>
              </a:rPr>
              <a:t>attempts</a:t>
            </a:r>
            <a:r>
              <a:rPr sz="3200" spc="4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3200" spc="-245" dirty="0">
                <a:solidFill>
                  <a:srgbClr val="627083"/>
                </a:solidFill>
                <a:latin typeface="Arial MT"/>
                <a:cs typeface="Arial MT"/>
              </a:rPr>
              <a:t>a</a:t>
            </a:r>
            <a:r>
              <a:rPr sz="3200" spc="-170" dirty="0">
                <a:solidFill>
                  <a:srgbClr val="627083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424242"/>
                </a:solidFill>
                <a:latin typeface="Arial MT"/>
                <a:cs typeface="Arial MT"/>
              </a:rPr>
              <a:t>connection</a:t>
            </a:r>
            <a:r>
              <a:rPr sz="3200" spc="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565656"/>
                </a:solidFill>
                <a:latin typeface="Arial MT"/>
                <a:cs typeface="Arial MT"/>
              </a:rPr>
              <a:t>to</a:t>
            </a:r>
            <a:r>
              <a:rPr sz="3200" spc="15" dirty="0">
                <a:solidFill>
                  <a:srgbClr val="565656"/>
                </a:solidFill>
                <a:latin typeface="Arial MT"/>
                <a:cs typeface="Arial MT"/>
              </a:rPr>
              <a:t> </a:t>
            </a:r>
            <a:r>
              <a:rPr sz="3200" spc="-60" dirty="0">
                <a:solidFill>
                  <a:srgbClr val="424242"/>
                </a:solidFill>
                <a:latin typeface="Arial MT"/>
                <a:cs typeface="Arial MT"/>
              </a:rPr>
              <a:t>measure</a:t>
            </a:r>
            <a:r>
              <a:rPr sz="3200" spc="-16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4D4D4D"/>
                </a:solidFill>
                <a:latin typeface="Arial MT"/>
                <a:cs typeface="Arial MT"/>
              </a:rPr>
              <a:t>RTT</a:t>
            </a:r>
            <a:r>
              <a:rPr sz="3200" spc="-20" dirty="0" smtClean="0">
                <a:solidFill>
                  <a:srgbClr val="4D4D4D"/>
                </a:solidFill>
                <a:latin typeface="Arial MT"/>
                <a:cs typeface="Arial MT"/>
              </a:rPr>
              <a:t>.</a:t>
            </a:r>
            <a:endParaRPr lang="en-US" sz="3200" spc="-20" dirty="0" smtClean="0">
              <a:solidFill>
                <a:srgbClr val="4D4D4D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endParaRPr sz="1200" dirty="0">
              <a:latin typeface="Arial MT"/>
              <a:cs typeface="Arial MT"/>
            </a:endParaRPr>
          </a:p>
          <a:p>
            <a:pPr marL="13970" marR="1315720">
              <a:lnSpc>
                <a:spcPct val="206100"/>
              </a:lnSpc>
              <a:spcBef>
                <a:spcPts val="50"/>
              </a:spcBef>
            </a:pPr>
            <a:r>
              <a:rPr sz="3600" b="1" dirty="0">
                <a:solidFill>
                  <a:srgbClr val="484848"/>
                </a:solidFill>
                <a:latin typeface="Calibri"/>
                <a:cs typeface="Calibri"/>
              </a:rPr>
              <a:t>Step</a:t>
            </a:r>
            <a:r>
              <a:rPr sz="3600" b="1" spc="-18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4F4F4F"/>
                </a:solidFill>
                <a:latin typeface="Calibri"/>
                <a:cs typeface="Calibri"/>
              </a:rPr>
              <a:t>3:</a:t>
            </a:r>
            <a:r>
              <a:rPr sz="3600" b="1" spc="-20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464646"/>
                </a:solidFill>
                <a:latin typeface="Calibri"/>
                <a:cs typeface="Calibri"/>
              </a:rPr>
              <a:t>Multiple</a:t>
            </a:r>
            <a:r>
              <a:rPr sz="3600" spc="-7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600" spc="-70" dirty="0">
                <a:solidFill>
                  <a:srgbClr val="3D3D3D"/>
                </a:solidFill>
                <a:latin typeface="Calibri"/>
                <a:cs typeface="Calibri"/>
              </a:rPr>
              <a:t>samples</a:t>
            </a:r>
            <a:r>
              <a:rPr sz="3600" spc="6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600" spc="-65" dirty="0">
                <a:solidFill>
                  <a:srgbClr val="505050"/>
                </a:solidFill>
                <a:latin typeface="Calibri"/>
                <a:cs typeface="Calibri"/>
              </a:rPr>
              <a:t>are</a:t>
            </a:r>
            <a:r>
              <a:rPr sz="3600" spc="-245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4F4F4F"/>
                </a:solidFill>
                <a:latin typeface="Calibri"/>
                <a:cs typeface="Calibri"/>
              </a:rPr>
              <a:t>collected </a:t>
            </a:r>
            <a:r>
              <a:rPr sz="3600" spc="-30" dirty="0">
                <a:solidFill>
                  <a:srgbClr val="4F4F4F"/>
                </a:solidFill>
                <a:latin typeface="Calibri"/>
                <a:cs typeface="Calibri"/>
              </a:rPr>
              <a:t>to</a:t>
            </a:r>
            <a:r>
              <a:rPr sz="3600" spc="-21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600" spc="-40" dirty="0">
                <a:solidFill>
                  <a:srgbClr val="4D4D4D"/>
                </a:solidFill>
                <a:latin typeface="Calibri"/>
                <a:cs typeface="Calibri"/>
              </a:rPr>
              <a:t>calculate</a:t>
            </a:r>
            <a:r>
              <a:rPr sz="3600" spc="-10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697C8E"/>
                </a:solidFill>
                <a:latin typeface="Calibri"/>
                <a:cs typeface="Calibri"/>
              </a:rPr>
              <a:t>the</a:t>
            </a:r>
            <a:r>
              <a:rPr sz="3600" spc="-210" dirty="0">
                <a:solidFill>
                  <a:srgbClr val="697C8E"/>
                </a:solidFill>
                <a:latin typeface="Calibri"/>
                <a:cs typeface="Calibri"/>
              </a:rPr>
              <a:t> </a:t>
            </a:r>
            <a:r>
              <a:rPr sz="3600" spc="-80" dirty="0">
                <a:solidFill>
                  <a:srgbClr val="4F4F4F"/>
                </a:solidFill>
                <a:latin typeface="Calibri"/>
                <a:cs typeface="Calibri"/>
              </a:rPr>
              <a:t>average</a:t>
            </a:r>
            <a:r>
              <a:rPr sz="3600" spc="-9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600" spc="-85" dirty="0">
                <a:solidFill>
                  <a:srgbClr val="54606E"/>
                </a:solidFill>
                <a:latin typeface="Calibri"/>
                <a:cs typeface="Calibri"/>
              </a:rPr>
              <a:t>and</a:t>
            </a:r>
            <a:r>
              <a:rPr sz="3600" spc="-195" dirty="0">
                <a:solidFill>
                  <a:srgbClr val="54606E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D3D3D"/>
                </a:solidFill>
                <a:latin typeface="Calibri"/>
                <a:cs typeface="Calibri"/>
              </a:rPr>
              <a:t>deviation. </a:t>
            </a:r>
            <a:endParaRPr lang="en-US" sz="3600" spc="-10" dirty="0" smtClean="0">
              <a:solidFill>
                <a:srgbClr val="3D3D3D"/>
              </a:solidFill>
              <a:latin typeface="Calibri"/>
              <a:cs typeface="Calibri"/>
            </a:endParaRPr>
          </a:p>
          <a:p>
            <a:pPr marL="13970" marR="1315720">
              <a:lnSpc>
                <a:spcPct val="206100"/>
              </a:lnSpc>
              <a:spcBef>
                <a:spcPts val="50"/>
              </a:spcBef>
            </a:pPr>
            <a:r>
              <a:rPr lang="en-US" sz="3600" b="1" spc="-10" dirty="0" smtClean="0">
                <a:solidFill>
                  <a:srgbClr val="3D3D3D"/>
                </a:solidFill>
                <a:latin typeface="Calibri"/>
                <a:cs typeface="Calibri"/>
              </a:rPr>
              <a:t>Step </a:t>
            </a:r>
            <a:r>
              <a:rPr sz="3600" b="1" spc="-20" dirty="0" smtClean="0">
                <a:solidFill>
                  <a:srgbClr val="444444"/>
                </a:solidFill>
                <a:latin typeface="Calibri"/>
                <a:cs typeface="Calibri"/>
              </a:rPr>
              <a:t>4</a:t>
            </a:r>
            <a:r>
              <a:rPr sz="3600" b="1" spc="-20" dirty="0">
                <a:solidFill>
                  <a:srgbClr val="444444"/>
                </a:solidFill>
                <a:latin typeface="Calibri"/>
                <a:cs typeface="Calibri"/>
              </a:rPr>
              <a:t>:</a:t>
            </a:r>
            <a:r>
              <a:rPr sz="3600" b="1" spc="-10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Jitter</a:t>
            </a:r>
            <a:r>
              <a:rPr sz="3600" spc="-10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D4D4D"/>
                </a:solidFill>
                <a:latin typeface="Calibri"/>
                <a:cs typeface="Calibri"/>
              </a:rPr>
              <a:t>is</a:t>
            </a:r>
            <a:r>
              <a:rPr sz="3600" spc="-16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600" spc="-60" dirty="0">
                <a:solidFill>
                  <a:srgbClr val="424242"/>
                </a:solidFill>
                <a:latin typeface="Calibri"/>
                <a:cs typeface="Calibri"/>
              </a:rPr>
              <a:t>derived</a:t>
            </a:r>
            <a:r>
              <a:rPr sz="3600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55" dirty="0">
                <a:solidFill>
                  <a:srgbClr val="525252"/>
                </a:solidFill>
                <a:latin typeface="Calibri"/>
                <a:cs typeface="Calibri"/>
              </a:rPr>
              <a:t>from</a:t>
            </a:r>
            <a:r>
              <a:rPr sz="3600" spc="-6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494949"/>
                </a:solidFill>
                <a:latin typeface="Calibri"/>
                <a:cs typeface="Calibri"/>
              </a:rPr>
              <a:t>the</a:t>
            </a:r>
            <a:r>
              <a:rPr sz="3600" spc="-2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600" spc="-55" dirty="0">
                <a:solidFill>
                  <a:srgbClr val="4B4B4B"/>
                </a:solidFill>
                <a:latin typeface="Calibri"/>
                <a:cs typeface="Calibri"/>
              </a:rPr>
              <a:t>variance</a:t>
            </a:r>
            <a:r>
              <a:rPr sz="3600" spc="-11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94949"/>
                </a:solidFill>
                <a:latin typeface="Calibri"/>
                <a:cs typeface="Calibri"/>
              </a:rPr>
              <a:t>in</a:t>
            </a:r>
            <a:r>
              <a:rPr sz="3600" spc="-15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600" spc="-65" dirty="0">
                <a:solidFill>
                  <a:srgbClr val="4B4B4B"/>
                </a:solidFill>
                <a:latin typeface="Calibri"/>
                <a:cs typeface="Calibri"/>
              </a:rPr>
              <a:t>these</a:t>
            </a:r>
            <a:r>
              <a:rPr sz="3600" spc="-8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B4B4B"/>
                </a:solidFill>
                <a:latin typeface="Calibri"/>
                <a:cs typeface="Calibri"/>
              </a:rPr>
              <a:t>samples.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2400" dirty="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</a:pPr>
            <a:r>
              <a:rPr sz="3600" b="1" dirty="0">
                <a:solidFill>
                  <a:srgbClr val="494949"/>
                </a:solidFill>
                <a:latin typeface="Calibri"/>
                <a:cs typeface="Calibri"/>
              </a:rPr>
              <a:t>Step</a:t>
            </a:r>
            <a:r>
              <a:rPr sz="3600" b="1" spc="-204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600" b="1" spc="-20" dirty="0">
                <a:solidFill>
                  <a:srgbClr val="485674"/>
                </a:solidFill>
                <a:latin typeface="Calibri"/>
                <a:cs typeface="Calibri"/>
              </a:rPr>
              <a:t>5:</a:t>
            </a:r>
            <a:r>
              <a:rPr sz="3600" b="1" spc="-250" dirty="0">
                <a:solidFill>
                  <a:srgbClr val="485674"/>
                </a:solidFill>
                <a:latin typeface="Calibri"/>
                <a:cs typeface="Calibri"/>
              </a:rPr>
              <a:t> </a:t>
            </a:r>
            <a:r>
              <a:rPr sz="3600" spc="125" dirty="0">
                <a:solidFill>
                  <a:srgbClr val="3A4864"/>
                </a:solidFill>
                <a:latin typeface="Calibri"/>
                <a:cs typeface="Calibri"/>
              </a:rPr>
              <a:t>A</a:t>
            </a:r>
            <a:r>
              <a:rPr sz="3600" spc="-260" dirty="0">
                <a:solidFill>
                  <a:srgbClr val="3A4864"/>
                </a:solidFill>
                <a:latin typeface="Calibri"/>
                <a:cs typeface="Calibri"/>
              </a:rPr>
              <a:t> </a:t>
            </a:r>
            <a:r>
              <a:rPr sz="3600" spc="-35" dirty="0">
                <a:solidFill>
                  <a:srgbClr val="4B4B4B"/>
                </a:solidFill>
                <a:latin typeface="Calibri"/>
                <a:cs typeface="Calibri"/>
              </a:rPr>
              <a:t>normalization</a:t>
            </a:r>
            <a:r>
              <a:rPr sz="360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spc="-40" dirty="0">
                <a:solidFill>
                  <a:srgbClr val="494949"/>
                </a:solidFill>
                <a:latin typeface="Calibri"/>
                <a:cs typeface="Calibri"/>
              </a:rPr>
              <a:t>algorithm</a:t>
            </a:r>
            <a:r>
              <a:rPr sz="3600" spc="-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600" spc="-75" dirty="0">
                <a:solidFill>
                  <a:srgbClr val="424242"/>
                </a:solidFill>
                <a:latin typeface="Calibri"/>
                <a:cs typeface="Calibri"/>
              </a:rPr>
              <a:t>generates</a:t>
            </a:r>
            <a:r>
              <a:rPr sz="3600" spc="6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4B4B4B"/>
                </a:solidFill>
                <a:latin typeface="Calibri"/>
                <a:cs typeface="Calibri"/>
              </a:rPr>
              <a:t>the</a:t>
            </a:r>
            <a:r>
              <a:rPr sz="3600" spc="-29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4D6475"/>
                </a:solidFill>
                <a:latin typeface="Calibri"/>
                <a:cs typeface="Calibri"/>
              </a:rPr>
              <a:t>final</a:t>
            </a:r>
            <a:r>
              <a:rPr sz="3600" spc="-105" dirty="0">
                <a:solidFill>
                  <a:srgbClr val="4D6475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24242"/>
                </a:solidFill>
                <a:latin typeface="Calibri"/>
                <a:cs typeface="Calibri"/>
              </a:rPr>
              <a:t>Health</a:t>
            </a:r>
            <a:r>
              <a:rPr sz="3600" spc="-8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64646"/>
                </a:solidFill>
                <a:latin typeface="Calibri"/>
                <a:cs typeface="Calibri"/>
              </a:rPr>
              <a:t>Score.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5" y="5277326"/>
            <a:ext cx="643959" cy="163345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9052" y="5253766"/>
            <a:ext cx="1240799" cy="16334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98328" y="5253766"/>
            <a:ext cx="1240799" cy="16334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47036" y="2149475"/>
            <a:ext cx="7581014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625" algn="l"/>
              </a:tabLst>
            </a:pPr>
            <a:r>
              <a:rPr sz="5150" b="1" spc="-600" dirty="0">
                <a:solidFill>
                  <a:srgbClr val="186DE1"/>
                </a:solidFill>
              </a:rPr>
              <a:t>)</a:t>
            </a:r>
            <a:r>
              <a:rPr sz="5150" b="1" dirty="0">
                <a:solidFill>
                  <a:srgbClr val="186DE1"/>
                </a:solidFill>
              </a:rPr>
              <a:t>	</a:t>
            </a:r>
            <a:r>
              <a:rPr sz="5150" b="1" spc="50" dirty="0">
                <a:solidFill>
                  <a:srgbClr val="151515"/>
                </a:solidFill>
              </a:rPr>
              <a:t>PRIMARY</a:t>
            </a:r>
            <a:r>
              <a:rPr sz="5150" b="1" spc="395" dirty="0">
                <a:solidFill>
                  <a:srgbClr val="151515"/>
                </a:solidFill>
              </a:rPr>
              <a:t> </a:t>
            </a:r>
            <a:r>
              <a:rPr sz="5150" b="1" spc="60" dirty="0">
                <a:solidFill>
                  <a:srgbClr val="131313"/>
                </a:solidFill>
              </a:rPr>
              <a:t>METRICS</a:t>
            </a:r>
            <a:endParaRPr sz="5150" b="1" dirty="0"/>
          </a:p>
        </p:txBody>
      </p:sp>
      <p:sp>
        <p:nvSpPr>
          <p:cNvPr id="6" name="object 6"/>
          <p:cNvSpPr txBox="1"/>
          <p:nvPr/>
        </p:nvSpPr>
        <p:spPr>
          <a:xfrm>
            <a:off x="5552254" y="4957698"/>
            <a:ext cx="13796196" cy="2808461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400" b="1" spc="225" dirty="0">
                <a:solidFill>
                  <a:srgbClr val="133695"/>
                </a:solidFill>
                <a:latin typeface="Calibri"/>
                <a:cs typeface="Calibri"/>
              </a:rPr>
              <a:t>Defining</a:t>
            </a:r>
            <a:r>
              <a:rPr sz="4400" b="1" spc="100" dirty="0">
                <a:solidFill>
                  <a:srgbClr val="133695"/>
                </a:solidFill>
                <a:latin typeface="Calibri"/>
                <a:cs typeface="Calibri"/>
              </a:rPr>
              <a:t> </a:t>
            </a:r>
            <a:r>
              <a:rPr sz="4400" b="1" spc="220" dirty="0">
                <a:solidFill>
                  <a:srgbClr val="183FAC"/>
                </a:solidFill>
                <a:latin typeface="Calibri"/>
                <a:cs typeface="Calibri"/>
              </a:rPr>
              <a:t>Network</a:t>
            </a:r>
            <a:r>
              <a:rPr sz="4400" b="1" spc="-105" dirty="0">
                <a:solidFill>
                  <a:srgbClr val="183FAC"/>
                </a:solidFill>
                <a:latin typeface="Calibri"/>
                <a:cs typeface="Calibri"/>
              </a:rPr>
              <a:t> </a:t>
            </a:r>
            <a:r>
              <a:rPr sz="4400" b="1" spc="235" dirty="0" smtClean="0">
                <a:solidFill>
                  <a:srgbClr val="133AB3"/>
                </a:solidFill>
                <a:latin typeface="Calibri"/>
                <a:cs typeface="Calibri"/>
              </a:rPr>
              <a:t>Quality</a:t>
            </a:r>
            <a:endParaRPr lang="en-US" sz="4400" b="1" spc="235" dirty="0" smtClean="0">
              <a:solidFill>
                <a:srgbClr val="133AB3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endParaRPr sz="4000" dirty="0">
              <a:latin typeface="Calibri"/>
              <a:cs typeface="Calibri"/>
            </a:endParaRPr>
          </a:p>
          <a:p>
            <a:pPr marL="29845" marR="5080" indent="-17780">
              <a:lnSpc>
                <a:spcPts val="5440"/>
              </a:lnSpc>
              <a:spcBef>
                <a:spcPts val="370"/>
              </a:spcBef>
            </a:pPr>
            <a:r>
              <a:rPr sz="3200" b="1" dirty="0">
                <a:solidFill>
                  <a:srgbClr val="484848"/>
                </a:solidFill>
                <a:latin typeface="Calibri"/>
                <a:cs typeface="Calibri"/>
              </a:rPr>
              <a:t>Latency:</a:t>
            </a:r>
            <a:r>
              <a:rPr sz="3200" b="1" spc="-14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spc="-70" dirty="0">
                <a:solidFill>
                  <a:srgbClr val="424242"/>
                </a:solidFill>
                <a:latin typeface="Calibri"/>
                <a:cs typeface="Calibri"/>
              </a:rPr>
              <a:t>Measured</a:t>
            </a:r>
            <a:r>
              <a:rPr sz="3200" spc="-9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545454"/>
                </a:solidFill>
                <a:latin typeface="Calibri"/>
                <a:cs typeface="Calibri"/>
              </a:rPr>
              <a:t>in</a:t>
            </a:r>
            <a:r>
              <a:rPr sz="3200" spc="-204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3F3F3F"/>
                </a:solidFill>
                <a:latin typeface="Calibri"/>
                <a:cs typeface="Calibri"/>
              </a:rPr>
              <a:t>milliseconds</a:t>
            </a:r>
            <a:r>
              <a:rPr sz="3200" spc="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10" dirty="0">
                <a:solidFill>
                  <a:srgbClr val="383838"/>
                </a:solidFill>
                <a:latin typeface="Calibri"/>
                <a:cs typeface="Calibri"/>
              </a:rPr>
              <a:t>(ms),</a:t>
            </a:r>
            <a:r>
              <a:rPr sz="3200" spc="-18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200" spc="-45" dirty="0">
                <a:solidFill>
                  <a:srgbClr val="424242"/>
                </a:solidFill>
                <a:latin typeface="Calibri"/>
                <a:cs typeface="Calibri"/>
              </a:rPr>
              <a:t>representing</a:t>
            </a:r>
            <a:r>
              <a:rPr sz="3200" spc="1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spc="-45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3200" spc="-2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200" spc="-45" dirty="0">
                <a:solidFill>
                  <a:srgbClr val="3F3F3F"/>
                </a:solidFill>
                <a:latin typeface="Calibri"/>
                <a:cs typeface="Calibri"/>
              </a:rPr>
              <a:t>round-</a:t>
            </a:r>
            <a:r>
              <a:rPr sz="3200" spc="-35" dirty="0">
                <a:solidFill>
                  <a:srgbClr val="3F3F3F"/>
                </a:solidFill>
                <a:latin typeface="Calibri"/>
                <a:cs typeface="Calibri"/>
              </a:rPr>
              <a:t>trip</a:t>
            </a:r>
            <a:r>
              <a:rPr sz="3200" spc="-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D3D3D"/>
                </a:solidFill>
                <a:latin typeface="Calibri"/>
                <a:cs typeface="Calibri"/>
              </a:rPr>
              <a:t>delay</a:t>
            </a:r>
            <a:r>
              <a:rPr sz="3200" spc="-10" dirty="0" smtClean="0">
                <a:solidFill>
                  <a:srgbClr val="3D3D3D"/>
                </a:solidFill>
                <a:latin typeface="Calibri"/>
                <a:cs typeface="Calibri"/>
              </a:rPr>
              <a:t>. </a:t>
            </a:r>
            <a:endParaRPr lang="en-US" sz="3200" spc="-10" dirty="0" smtClean="0">
              <a:solidFill>
                <a:srgbClr val="3D3D3D"/>
              </a:solidFill>
              <a:latin typeface="Calibri"/>
              <a:cs typeface="Calibri"/>
            </a:endParaRPr>
          </a:p>
          <a:p>
            <a:pPr marL="29845" marR="5080" indent="-17780">
              <a:lnSpc>
                <a:spcPts val="5440"/>
              </a:lnSpc>
              <a:spcBef>
                <a:spcPts val="370"/>
              </a:spcBef>
            </a:pPr>
            <a:r>
              <a:rPr sz="3200" b="1" dirty="0" smtClean="0">
                <a:solidFill>
                  <a:srgbClr val="494949"/>
                </a:solidFill>
                <a:latin typeface="Calibri"/>
                <a:cs typeface="Calibri"/>
              </a:rPr>
              <a:t>Jitter</a:t>
            </a:r>
            <a:r>
              <a:rPr sz="3200" b="1" dirty="0">
                <a:solidFill>
                  <a:srgbClr val="494949"/>
                </a:solidFill>
                <a:latin typeface="Calibri"/>
                <a:cs typeface="Calibri"/>
              </a:rPr>
              <a:t>:</a:t>
            </a:r>
            <a:r>
              <a:rPr sz="3200" b="1" spc="-1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D566E"/>
                </a:solidFill>
                <a:latin typeface="Calibri"/>
                <a:cs typeface="Calibri"/>
              </a:rPr>
              <a:t>The</a:t>
            </a:r>
            <a:r>
              <a:rPr sz="3200" spc="-229" dirty="0">
                <a:solidFill>
                  <a:srgbClr val="3D566E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464646"/>
                </a:solidFill>
                <a:latin typeface="Calibri"/>
                <a:cs typeface="Calibri"/>
              </a:rPr>
              <a:t>variation</a:t>
            </a:r>
            <a:r>
              <a:rPr sz="3200" spc="-7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15975"/>
                </a:solidFill>
                <a:latin typeface="Calibri"/>
                <a:cs typeface="Calibri"/>
              </a:rPr>
              <a:t>in</a:t>
            </a:r>
            <a:r>
              <a:rPr sz="3200" spc="-170" dirty="0">
                <a:solidFill>
                  <a:srgbClr val="415975"/>
                </a:solidFill>
                <a:latin typeface="Calibri"/>
                <a:cs typeface="Calibri"/>
              </a:rPr>
              <a:t> </a:t>
            </a:r>
            <a:r>
              <a:rPr sz="3200" spc="-60" dirty="0">
                <a:solidFill>
                  <a:srgbClr val="525252"/>
                </a:solidFill>
                <a:latin typeface="Calibri"/>
                <a:cs typeface="Calibri"/>
              </a:rPr>
              <a:t>latency;</a:t>
            </a:r>
            <a:r>
              <a:rPr sz="3200" spc="-5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596E8A"/>
                </a:solidFill>
                <a:latin typeface="Calibri"/>
                <a:cs typeface="Calibri"/>
              </a:rPr>
              <a:t>high</a:t>
            </a:r>
            <a:r>
              <a:rPr sz="3200" spc="-120" dirty="0">
                <a:solidFill>
                  <a:srgbClr val="596E8A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84848"/>
                </a:solidFill>
                <a:latin typeface="Calibri"/>
                <a:cs typeface="Calibri"/>
              </a:rPr>
              <a:t>jitter</a:t>
            </a:r>
            <a:r>
              <a:rPr sz="3200" spc="-11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383838"/>
                </a:solidFill>
                <a:latin typeface="Calibri"/>
                <a:cs typeface="Calibri"/>
              </a:rPr>
              <a:t>indicates</a:t>
            </a:r>
            <a:r>
              <a:rPr sz="3200" spc="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200" spc="-55" dirty="0">
                <a:solidFill>
                  <a:srgbClr val="444444"/>
                </a:solidFill>
                <a:latin typeface="Calibri"/>
                <a:cs typeface="Calibri"/>
              </a:rPr>
              <a:t>congestion </a:t>
            </a:r>
            <a:r>
              <a:rPr sz="3200" spc="-10" dirty="0">
                <a:solidFill>
                  <a:srgbClr val="565656"/>
                </a:solidFill>
                <a:latin typeface="Calibri"/>
                <a:cs typeface="Calibri"/>
              </a:rPr>
              <a:t>or</a:t>
            </a:r>
            <a:r>
              <a:rPr sz="3200" spc="-17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444444"/>
                </a:solidFill>
                <a:latin typeface="Calibri"/>
                <a:cs typeface="Calibri"/>
              </a:rPr>
              <a:t>interference.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7943" y="7300559"/>
            <a:ext cx="350583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70280" algn="l"/>
              </a:tabLst>
            </a:pPr>
            <a:r>
              <a:rPr sz="2700" spc="-25" dirty="0">
                <a:solidFill>
                  <a:srgbClr val="697993"/>
                </a:solidFill>
                <a:latin typeface="Calibri"/>
                <a:cs typeface="Calibri"/>
              </a:rPr>
              <a:t>Max</a:t>
            </a:r>
            <a:r>
              <a:rPr sz="2700" dirty="0">
                <a:solidFill>
                  <a:srgbClr val="697993"/>
                </a:solidFill>
                <a:latin typeface="Calibri"/>
                <a:cs typeface="Calibri"/>
              </a:rPr>
              <a:t>	</a:t>
            </a:r>
            <a:r>
              <a:rPr sz="2700" spc="560" dirty="0">
                <a:solidFill>
                  <a:srgbClr val="64778C"/>
                </a:solidFill>
                <a:latin typeface="Calibri"/>
                <a:cs typeface="Calibri"/>
              </a:rPr>
              <a:t>Health</a:t>
            </a:r>
            <a:r>
              <a:rPr sz="2700" spc="-15" dirty="0">
                <a:solidFill>
                  <a:srgbClr val="64778C"/>
                </a:solidFill>
                <a:latin typeface="Calibri"/>
                <a:cs typeface="Calibri"/>
              </a:rPr>
              <a:t> </a:t>
            </a:r>
            <a:r>
              <a:rPr sz="2700" spc="480" dirty="0">
                <a:solidFill>
                  <a:srgbClr val="69778A"/>
                </a:solidFill>
                <a:latin typeface="Calibri"/>
                <a:cs typeface="Calibri"/>
              </a:rPr>
              <a:t>Score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562233" y="7864475"/>
            <a:ext cx="8310778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444F60"/>
                </a:solidFill>
                <a:latin typeface="Calibri"/>
                <a:cs typeface="Calibri"/>
              </a:rPr>
              <a:t>DNS</a:t>
            </a:r>
            <a:r>
              <a:rPr sz="3200" b="1" spc="-290" dirty="0">
                <a:solidFill>
                  <a:srgbClr val="444F60"/>
                </a:solidFill>
                <a:latin typeface="Calibri"/>
                <a:cs typeface="Calibri"/>
              </a:rPr>
              <a:t> </a:t>
            </a:r>
            <a:r>
              <a:rPr sz="3200" b="1" spc="-110" dirty="0">
                <a:solidFill>
                  <a:srgbClr val="4D4D4D"/>
                </a:solidFill>
                <a:latin typeface="Calibri"/>
                <a:cs typeface="Calibri"/>
              </a:rPr>
              <a:t>Status:</a:t>
            </a:r>
            <a:r>
              <a:rPr sz="3200" b="1" spc="-13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-25" dirty="0">
                <a:solidFill>
                  <a:srgbClr val="424B5D"/>
                </a:solidFill>
                <a:latin typeface="Calibri"/>
                <a:cs typeface="Calibri"/>
              </a:rPr>
              <a:t>A</a:t>
            </a:r>
            <a:r>
              <a:rPr sz="3200" spc="-229" dirty="0">
                <a:solidFill>
                  <a:srgbClr val="424B5D"/>
                </a:solidFill>
                <a:latin typeface="Calibri"/>
                <a:cs typeface="Calibri"/>
              </a:rPr>
              <a:t> </a:t>
            </a:r>
            <a:r>
              <a:rPr sz="3200" spc="-145" dirty="0">
                <a:solidFill>
                  <a:srgbClr val="444444"/>
                </a:solidFill>
                <a:latin typeface="Calibri"/>
                <a:cs typeface="Calibri"/>
              </a:rPr>
              <a:t>binarycheck</a:t>
            </a:r>
            <a:r>
              <a:rPr sz="3200" spc="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114" dirty="0">
                <a:solidFill>
                  <a:srgbClr val="494949"/>
                </a:solidFill>
                <a:latin typeface="Calibri"/>
                <a:cs typeface="Calibri"/>
              </a:rPr>
              <a:t>for</a:t>
            </a:r>
            <a:r>
              <a:rPr sz="3200" spc="-23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spc="-190" dirty="0">
                <a:solidFill>
                  <a:srgbClr val="484848"/>
                </a:solidFill>
                <a:latin typeface="Calibri"/>
                <a:cs typeface="Calibri"/>
              </a:rPr>
              <a:t>domain</a:t>
            </a:r>
            <a:r>
              <a:rPr sz="3200" spc="-6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spc="-95" dirty="0">
                <a:solidFill>
                  <a:srgbClr val="424242"/>
                </a:solidFill>
                <a:latin typeface="Calibri"/>
                <a:cs typeface="Calibri"/>
              </a:rPr>
              <a:t>accessibility.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941573" y="1692275"/>
            <a:ext cx="6019553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9420" algn="l"/>
              </a:tabLst>
            </a:pPr>
            <a:r>
              <a:rPr sz="4900" b="1" spc="-530" dirty="0">
                <a:solidFill>
                  <a:srgbClr val="2864E4"/>
                </a:solidFill>
              </a:rPr>
              <a:t>)</a:t>
            </a:r>
            <a:r>
              <a:rPr sz="4900" b="1" dirty="0">
                <a:solidFill>
                  <a:srgbClr val="2864E4"/>
                </a:solidFill>
              </a:rPr>
              <a:t>	</a:t>
            </a:r>
            <a:r>
              <a:rPr sz="4900" b="1" spc="229" dirty="0">
                <a:solidFill>
                  <a:srgbClr val="131313"/>
                </a:solidFill>
              </a:rPr>
              <a:t>VISUAL</a:t>
            </a:r>
            <a:r>
              <a:rPr sz="4900" b="1" spc="420" dirty="0">
                <a:solidFill>
                  <a:srgbClr val="131313"/>
                </a:solidFill>
              </a:rPr>
              <a:t> </a:t>
            </a:r>
            <a:r>
              <a:rPr sz="4900" b="1" spc="155" dirty="0">
                <a:solidFill>
                  <a:srgbClr val="161616"/>
                </a:solidFill>
              </a:rPr>
              <a:t>RESULTS</a:t>
            </a:r>
            <a:endParaRPr sz="4900" b="1" dirty="0"/>
          </a:p>
        </p:txBody>
      </p:sp>
      <p:sp>
        <p:nvSpPr>
          <p:cNvPr id="12" name="object 12"/>
          <p:cNvSpPr txBox="1"/>
          <p:nvPr/>
        </p:nvSpPr>
        <p:spPr>
          <a:xfrm>
            <a:off x="941573" y="3368675"/>
            <a:ext cx="8424677" cy="6262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125"/>
              </a:spcBef>
            </a:pPr>
            <a:r>
              <a:rPr sz="3450" b="1" spc="75" dirty="0">
                <a:solidFill>
                  <a:srgbClr val="2146BA"/>
                </a:solidFill>
                <a:latin typeface="Calibri"/>
                <a:cs typeface="Calibri"/>
              </a:rPr>
              <a:t>User</a:t>
            </a:r>
            <a:r>
              <a:rPr sz="3450" b="1" spc="-215" dirty="0">
                <a:solidFill>
                  <a:srgbClr val="2146BA"/>
                </a:solidFill>
                <a:latin typeface="Calibri"/>
                <a:cs typeface="Calibri"/>
              </a:rPr>
              <a:t> </a:t>
            </a:r>
            <a:r>
              <a:rPr sz="3450" b="1" spc="170" dirty="0">
                <a:solidFill>
                  <a:srgbClr val="153DAE"/>
                </a:solidFill>
                <a:latin typeface="Calibri"/>
                <a:cs typeface="Calibri"/>
              </a:rPr>
              <a:t>Dashboard</a:t>
            </a:r>
            <a:endParaRPr sz="3450" b="1" dirty="0">
              <a:latin typeface="Calibri"/>
              <a:cs typeface="Calibri"/>
            </a:endParaRPr>
          </a:p>
          <a:p>
            <a:pPr marL="31115" marR="5080" indent="1905">
              <a:lnSpc>
                <a:spcPct val="122000"/>
              </a:lnSpc>
              <a:spcBef>
                <a:spcPts val="1780"/>
              </a:spcBef>
            </a:pPr>
            <a:r>
              <a:rPr sz="3600" spc="-35" dirty="0">
                <a:solidFill>
                  <a:srgbClr val="4F4F4F"/>
                </a:solidFill>
                <a:latin typeface="Calibri"/>
                <a:cs typeface="Calibri"/>
              </a:rPr>
              <a:t>The</a:t>
            </a:r>
            <a:r>
              <a:rPr sz="3600" spc="-16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484848"/>
                </a:solidFill>
                <a:latin typeface="Calibri"/>
                <a:cs typeface="Calibri"/>
              </a:rPr>
              <a:t>analyzer</a:t>
            </a:r>
            <a:r>
              <a:rPr sz="3600" spc="-9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4B4B4B"/>
                </a:solidFill>
                <a:latin typeface="Calibri"/>
                <a:cs typeface="Calibri"/>
              </a:rPr>
              <a:t>provides</a:t>
            </a:r>
            <a:r>
              <a:rPr sz="3600" spc="-3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spc="-65" dirty="0">
                <a:solidFill>
                  <a:srgbClr val="495E79"/>
                </a:solidFill>
                <a:latin typeface="Calibri"/>
                <a:cs typeface="Calibri"/>
              </a:rPr>
              <a:t>a</a:t>
            </a:r>
            <a:r>
              <a:rPr sz="3600" spc="-195" dirty="0">
                <a:solidFill>
                  <a:srgbClr val="495E79"/>
                </a:solidFill>
                <a:latin typeface="Calibri"/>
                <a:cs typeface="Calibri"/>
              </a:rPr>
              <a:t> </a:t>
            </a:r>
            <a:r>
              <a:rPr sz="3600" spc="-70" dirty="0">
                <a:solidFill>
                  <a:srgbClr val="546D8A"/>
                </a:solidFill>
                <a:latin typeface="Calibri"/>
                <a:cs typeface="Calibri"/>
              </a:rPr>
              <a:t>clean</a:t>
            </a:r>
            <a:r>
              <a:rPr sz="3600" spc="-120" dirty="0">
                <a:solidFill>
                  <a:srgbClr val="546D8A"/>
                </a:solidFill>
                <a:latin typeface="Calibri"/>
                <a:cs typeface="Calibri"/>
              </a:rPr>
              <a:t> </a:t>
            </a:r>
            <a:r>
              <a:rPr sz="3600" dirty="0">
                <a:solidFill>
                  <a:srgbClr val="4B4B4B"/>
                </a:solidFill>
                <a:latin typeface="Calibri"/>
                <a:cs typeface="Calibri"/>
              </a:rPr>
              <a:t>GUI</a:t>
            </a:r>
            <a:r>
              <a:rPr sz="3600" spc="-2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3B506B"/>
                </a:solidFill>
                <a:latin typeface="Calibri"/>
                <a:cs typeface="Calibri"/>
              </a:rPr>
              <a:t>showing</a:t>
            </a:r>
            <a:r>
              <a:rPr sz="3600" spc="-25" dirty="0">
                <a:solidFill>
                  <a:srgbClr val="3B506B"/>
                </a:solidFill>
                <a:latin typeface="Calibri"/>
                <a:cs typeface="Calibri"/>
              </a:rPr>
              <a:t> </a:t>
            </a:r>
            <a:r>
              <a:rPr sz="3600" spc="-20" dirty="0">
                <a:solidFill>
                  <a:srgbClr val="545454"/>
                </a:solidFill>
                <a:latin typeface="Calibri"/>
                <a:cs typeface="Calibri"/>
              </a:rPr>
              <a:t>live</a:t>
            </a:r>
            <a:r>
              <a:rPr sz="3600" spc="-16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484848"/>
                </a:solidFill>
                <a:latin typeface="Calibri"/>
                <a:cs typeface="Calibri"/>
              </a:rPr>
              <a:t>metrics.</a:t>
            </a:r>
            <a:r>
              <a:rPr sz="3600" spc="-8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600" spc="-25" dirty="0">
                <a:solidFill>
                  <a:srgbClr val="415970"/>
                </a:solidFill>
                <a:latin typeface="Calibri"/>
                <a:cs typeface="Calibri"/>
              </a:rPr>
              <a:t>It </a:t>
            </a:r>
            <a:r>
              <a:rPr sz="3600" spc="-20" dirty="0">
                <a:solidFill>
                  <a:srgbClr val="494949"/>
                </a:solidFill>
                <a:latin typeface="Calibri"/>
                <a:cs typeface="Calibri"/>
              </a:rPr>
              <a:t>intelligently</a:t>
            </a:r>
            <a:r>
              <a:rPr sz="3600" spc="-2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3D3D3D"/>
                </a:solidFill>
                <a:latin typeface="Calibri"/>
                <a:cs typeface="Calibri"/>
              </a:rPr>
              <a:t>classifies</a:t>
            </a:r>
            <a:r>
              <a:rPr sz="3600" spc="1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3600" spc="-65" dirty="0">
                <a:solidFill>
                  <a:srgbClr val="525252"/>
                </a:solidFill>
                <a:latin typeface="Calibri"/>
                <a:cs typeface="Calibri"/>
              </a:rPr>
              <a:t>the</a:t>
            </a:r>
            <a:r>
              <a:rPr sz="3600" spc="-1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600" spc="-60" dirty="0">
                <a:solidFill>
                  <a:srgbClr val="505050"/>
                </a:solidFill>
                <a:latin typeface="Calibri"/>
                <a:cs typeface="Calibri"/>
              </a:rPr>
              <a:t>network</a:t>
            </a:r>
            <a:r>
              <a:rPr sz="3600" spc="-8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3600" spc="-50" dirty="0">
                <a:solidFill>
                  <a:srgbClr val="48596E"/>
                </a:solidFill>
                <a:latin typeface="Calibri"/>
                <a:cs typeface="Calibri"/>
              </a:rPr>
              <a:t>for</a:t>
            </a:r>
            <a:r>
              <a:rPr sz="3600" spc="-75" dirty="0">
                <a:solidFill>
                  <a:srgbClr val="48596E"/>
                </a:solidFill>
                <a:latin typeface="Calibri"/>
                <a:cs typeface="Calibri"/>
              </a:rPr>
              <a:t> </a:t>
            </a:r>
            <a:r>
              <a:rPr sz="3600" spc="-65" dirty="0">
                <a:solidFill>
                  <a:srgbClr val="4B4B4B"/>
                </a:solidFill>
                <a:latin typeface="Calibri"/>
                <a:cs typeface="Calibri"/>
              </a:rPr>
              <a:t>specific</a:t>
            </a:r>
            <a:r>
              <a:rPr sz="3600" spc="-11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444444"/>
                </a:solidFill>
                <a:latin typeface="Calibri"/>
                <a:cs typeface="Calibri"/>
              </a:rPr>
              <a:t>use</a:t>
            </a:r>
            <a:r>
              <a:rPr sz="3600" spc="-1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3D3D3D"/>
                </a:solidFill>
                <a:latin typeface="Calibri"/>
                <a:cs typeface="Calibri"/>
              </a:rPr>
              <a:t>cases: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90"/>
              </a:spcBef>
            </a:pPr>
            <a:endParaRPr sz="3600" dirty="0">
              <a:latin typeface="Calibri"/>
              <a:cs typeface="Calibri"/>
            </a:endParaRPr>
          </a:p>
          <a:p>
            <a:pPr marL="735965">
              <a:lnSpc>
                <a:spcPct val="100000"/>
              </a:lnSpc>
            </a:pPr>
            <a:r>
              <a:rPr sz="3600" spc="-50" dirty="0">
                <a:solidFill>
                  <a:srgbClr val="464646"/>
                </a:solidFill>
                <a:latin typeface="Calibri"/>
                <a:cs typeface="Calibri"/>
              </a:rPr>
              <a:t>Gaming</a:t>
            </a:r>
            <a:r>
              <a:rPr sz="3600" spc="-8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44444"/>
                </a:solidFill>
                <a:latin typeface="Calibri"/>
                <a:cs typeface="Calibri"/>
              </a:rPr>
              <a:t>Recommendations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3600" dirty="0">
              <a:latin typeface="Calibri"/>
              <a:cs typeface="Calibri"/>
            </a:endParaRPr>
          </a:p>
          <a:p>
            <a:pPr marL="739775">
              <a:lnSpc>
                <a:spcPct val="100000"/>
              </a:lnSpc>
            </a:pPr>
            <a:r>
              <a:rPr sz="3200" dirty="0">
                <a:solidFill>
                  <a:srgbClr val="444444"/>
                </a:solidFill>
                <a:latin typeface="Calibri"/>
                <a:cs typeface="Calibri"/>
              </a:rPr>
              <a:t>Streaming</a:t>
            </a:r>
            <a:r>
              <a:rPr sz="3200" spc="23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44444"/>
                </a:solidFill>
                <a:latin typeface="Calibri"/>
                <a:cs typeface="Calibri"/>
              </a:rPr>
              <a:t>Performance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35965" algn="l"/>
              </a:tabLst>
            </a:pPr>
            <a:r>
              <a:rPr lang="en-US" sz="3600" spc="-25" dirty="0">
                <a:solidFill>
                  <a:srgbClr val="18BD85"/>
                </a:solidFill>
                <a:latin typeface="Calibri"/>
                <a:cs typeface="Calibri"/>
              </a:rPr>
              <a:t> </a:t>
            </a:r>
            <a:r>
              <a:rPr lang="en-US" sz="3600" spc="-25" dirty="0" smtClean="0">
                <a:solidFill>
                  <a:srgbClr val="18BD85"/>
                </a:solidFill>
                <a:latin typeface="Calibri"/>
                <a:cs typeface="Calibri"/>
              </a:rPr>
              <a:t>      </a:t>
            </a:r>
            <a:r>
              <a:rPr sz="3600" spc="-70" dirty="0" smtClean="0">
                <a:solidFill>
                  <a:srgbClr val="444444"/>
                </a:solidFill>
                <a:latin typeface="Calibri"/>
                <a:cs typeface="Calibri"/>
              </a:rPr>
              <a:t>General</a:t>
            </a:r>
            <a:r>
              <a:rPr sz="3600" spc="-20" dirty="0" smtClean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64646"/>
                </a:solidFill>
                <a:latin typeface="Calibri"/>
                <a:cs typeface="Calibri"/>
              </a:rPr>
              <a:t>Browsing</a:t>
            </a:r>
            <a:endParaRPr sz="3600" dirty="0">
              <a:latin typeface="Calibri"/>
              <a:cs typeface="Calibri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244" y="0"/>
            <a:ext cx="9716856" cy="11309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09966" y="1997075"/>
            <a:ext cx="7746684" cy="766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6405" algn="l"/>
              </a:tabLst>
            </a:pPr>
            <a:r>
              <a:rPr sz="4900" b="1" spc="-869" dirty="0">
                <a:solidFill>
                  <a:srgbClr val="156EE4"/>
                </a:solidFill>
                <a:latin typeface="+mn-lt"/>
                <a:cs typeface="Arial MT"/>
              </a:rPr>
              <a:t>)</a:t>
            </a:r>
            <a:r>
              <a:rPr sz="4900" b="1" dirty="0">
                <a:solidFill>
                  <a:srgbClr val="156EE4"/>
                </a:solidFill>
                <a:latin typeface="+mn-lt"/>
                <a:cs typeface="Arial MT"/>
              </a:rPr>
              <a:t>	</a:t>
            </a:r>
            <a:r>
              <a:rPr sz="4900" b="1" spc="-505" dirty="0">
                <a:solidFill>
                  <a:srgbClr val="131313"/>
                </a:solidFill>
                <a:latin typeface="+mn-lt"/>
                <a:cs typeface="Arial MT"/>
              </a:rPr>
              <a:t>SAMPLE</a:t>
            </a:r>
            <a:r>
              <a:rPr sz="4900" b="1" spc="315" dirty="0">
                <a:solidFill>
                  <a:srgbClr val="131313"/>
                </a:solidFill>
                <a:latin typeface="+mn-lt"/>
                <a:cs typeface="Arial MT"/>
              </a:rPr>
              <a:t> </a:t>
            </a:r>
            <a:r>
              <a:rPr sz="4900" b="1" spc="-385" dirty="0">
                <a:latin typeface="+mn-lt"/>
                <a:cs typeface="Arial MT"/>
              </a:rPr>
              <a:t>COMPARISONS</a:t>
            </a:r>
            <a:endParaRPr sz="4900" b="1" dirty="0">
              <a:latin typeface="+mn-l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1450" y="3597275"/>
            <a:ext cx="17983200" cy="510524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Good Network Example</a:t>
            </a:r>
            <a:endParaRPr lang="en-US" sz="3200" dirty="0" smtClean="0"/>
          </a:p>
          <a:p>
            <a:pPr>
              <a:lnSpc>
                <a:spcPct val="150000"/>
              </a:lnSpc>
            </a:pPr>
            <a:r>
              <a:rPr lang="en-US" sz="3200" dirty="0" smtClean="0"/>
              <a:t>TCP </a:t>
            </a:r>
            <a:r>
              <a:rPr lang="en-US" sz="3200" dirty="0" err="1" smtClean="0"/>
              <a:t>Avg</a:t>
            </a:r>
            <a:r>
              <a:rPr lang="en-US" sz="3200" dirty="0" smtClean="0"/>
              <a:t> Latency: ~58 </a:t>
            </a:r>
            <a:r>
              <a:rPr lang="en-US" sz="3200" dirty="0" err="1" smtClean="0"/>
              <a:t>ms</a:t>
            </a:r>
            <a:endParaRPr lang="en-US" sz="3200" dirty="0" smtClean="0"/>
          </a:p>
          <a:p>
            <a:pPr>
              <a:lnSpc>
                <a:spcPct val="150000"/>
              </a:lnSpc>
            </a:pPr>
            <a:r>
              <a:rPr lang="en-US" sz="3200" dirty="0" smtClean="0"/>
              <a:t>Jitter: ~21 </a:t>
            </a:r>
            <a:r>
              <a:rPr lang="en-US" sz="3200" dirty="0" err="1" smtClean="0"/>
              <a:t>ms</a:t>
            </a:r>
            <a:endParaRPr lang="en-US" sz="3200" dirty="0" smtClean="0"/>
          </a:p>
          <a:p>
            <a:pPr>
              <a:lnSpc>
                <a:spcPct val="150000"/>
              </a:lnSpc>
            </a:pPr>
            <a:r>
              <a:rPr lang="en-US" sz="3200" dirty="0" smtClean="0"/>
              <a:t>DNS: OK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Health Score: 85/100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✔ Gaming, Streaming, Browsing OK</a:t>
            </a:r>
          </a:p>
          <a:p>
            <a:pPr marL="203200">
              <a:lnSpc>
                <a:spcPct val="150000"/>
              </a:lnSpc>
              <a:spcBef>
                <a:spcPts val="110"/>
              </a:spcBef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576050" y="3596821"/>
            <a:ext cx="7848600" cy="2955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smtClean="0"/>
              <a:t>Poor Network Example</a:t>
            </a:r>
            <a:endParaRPr lang="en-US" sz="3200" dirty="0" smtClean="0"/>
          </a:p>
          <a:p>
            <a:pPr>
              <a:lnSpc>
                <a:spcPct val="150000"/>
              </a:lnSpc>
            </a:pPr>
            <a:r>
              <a:rPr lang="en-US" sz="3200" dirty="0" smtClean="0"/>
              <a:t>High latency and jitter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Health Score below 40</a:t>
            </a:r>
          </a:p>
          <a:p>
            <a:pPr>
              <a:lnSpc>
                <a:spcPct val="150000"/>
              </a:lnSpc>
            </a:pPr>
            <a:r>
              <a:rPr lang="en-US" sz="3200" dirty="0" smtClean="0"/>
              <a:t>✖ Poor network quality</a:t>
            </a:r>
            <a:endParaRPr lang="en-US" sz="3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3792" y="3785225"/>
            <a:ext cx="5827047" cy="314126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86485" y="3769518"/>
            <a:ext cx="5159528" cy="950232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3287553" y="3769518"/>
            <a:ext cx="5858510" cy="3173095"/>
            <a:chOff x="13287553" y="3769518"/>
            <a:chExt cx="5858510" cy="317309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287553" y="3769518"/>
              <a:ext cx="282713" cy="4868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287553" y="3769518"/>
              <a:ext cx="5858460" cy="317267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7146379" y="4303533"/>
            <a:ext cx="3691254" cy="1594485"/>
            <a:chOff x="7146379" y="4303533"/>
            <a:chExt cx="3691254" cy="1594485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59437" y="5167381"/>
              <a:ext cx="2677928" cy="73034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6379" y="4303533"/>
              <a:ext cx="2167473" cy="832435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973792" y="1436460"/>
            <a:ext cx="8077930" cy="785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8625" algn="l"/>
                <a:tab pos="3180715" algn="l"/>
              </a:tabLst>
            </a:pPr>
            <a:r>
              <a:rPr b="1" spc="-550" dirty="0">
                <a:solidFill>
                  <a:srgbClr val="186DE1"/>
                </a:solidFill>
              </a:rPr>
              <a:t>)</a:t>
            </a:r>
            <a:r>
              <a:rPr b="1" dirty="0">
                <a:solidFill>
                  <a:srgbClr val="186DE1"/>
                </a:solidFill>
              </a:rPr>
              <a:t>	</a:t>
            </a:r>
            <a:r>
              <a:rPr b="1" spc="290" dirty="0">
                <a:solidFill>
                  <a:srgbClr val="111111"/>
                </a:solidFill>
              </a:rPr>
              <a:t>PROJECT</a:t>
            </a:r>
            <a:r>
              <a:rPr b="1" dirty="0">
                <a:solidFill>
                  <a:srgbClr val="111111"/>
                </a:solidFill>
              </a:rPr>
              <a:t>	</a:t>
            </a:r>
            <a:r>
              <a:rPr b="1" spc="180" dirty="0"/>
              <a:t>APPLICATIONS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874325" y="7219409"/>
            <a:ext cx="1986280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90" dirty="0">
                <a:solidFill>
                  <a:srgbClr val="1C3AAF"/>
                </a:solidFill>
                <a:latin typeface="Calibri"/>
                <a:cs typeface="Calibri"/>
              </a:rPr>
              <a:t>IT</a:t>
            </a:r>
            <a:r>
              <a:rPr sz="3200" spc="135" dirty="0">
                <a:solidFill>
                  <a:srgbClr val="1C3AAF"/>
                </a:solidFill>
                <a:latin typeface="Calibri"/>
                <a:cs typeface="Calibri"/>
              </a:rPr>
              <a:t> </a:t>
            </a:r>
            <a:r>
              <a:rPr sz="3200" spc="204" dirty="0">
                <a:solidFill>
                  <a:srgbClr val="153BA5"/>
                </a:solidFill>
                <a:latin typeface="Calibri"/>
                <a:cs typeface="Calibri"/>
              </a:rPr>
              <a:t>Support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87002" y="7979748"/>
            <a:ext cx="5000625" cy="10098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Network troubleshooting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Internet performance analysis</a:t>
            </a:r>
            <a:endParaRPr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24934" y="7219409"/>
            <a:ext cx="2642235" cy="5162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200" spc="250" dirty="0">
                <a:solidFill>
                  <a:srgbClr val="153BBC"/>
                </a:solidFill>
                <a:latin typeface="Calibri"/>
                <a:cs typeface="Calibri"/>
              </a:rPr>
              <a:t>Remote</a:t>
            </a:r>
            <a:r>
              <a:rPr sz="3200" spc="50" dirty="0">
                <a:solidFill>
                  <a:srgbClr val="153BBC"/>
                </a:solidFill>
                <a:latin typeface="Calibri"/>
                <a:cs typeface="Calibri"/>
              </a:rPr>
              <a:t> </a:t>
            </a:r>
            <a:r>
              <a:rPr sz="3200" spc="185" dirty="0">
                <a:solidFill>
                  <a:srgbClr val="1641A7"/>
                </a:solidFill>
                <a:latin typeface="Calibri"/>
                <a:cs typeface="Calibri"/>
              </a:rPr>
              <a:t>Work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14357" y="8024359"/>
            <a:ext cx="4465955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30" dirty="0">
                <a:solidFill>
                  <a:srgbClr val="4D4D4D"/>
                </a:solidFill>
                <a:latin typeface="Calibri"/>
                <a:cs typeface="Calibri"/>
              </a:rPr>
              <a:t>Ensuring</a:t>
            </a:r>
            <a:r>
              <a:rPr sz="3200" spc="-11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484848"/>
                </a:solidFill>
                <a:latin typeface="Calibri"/>
                <a:cs typeface="Calibri"/>
              </a:rPr>
              <a:t>connectivity</a:t>
            </a:r>
            <a:r>
              <a:rPr sz="320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4F4F4F"/>
                </a:solidFill>
                <a:latin typeface="Calibri"/>
                <a:cs typeface="Calibri"/>
              </a:rPr>
              <a:t>for</a:t>
            </a:r>
            <a:r>
              <a:rPr sz="3200" spc="-9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200" spc="-60" dirty="0">
                <a:solidFill>
                  <a:srgbClr val="464646"/>
                </a:solidFill>
                <a:latin typeface="Calibri"/>
                <a:cs typeface="Calibri"/>
              </a:rPr>
              <a:t>video</a:t>
            </a:r>
            <a:r>
              <a:rPr sz="3200" spc="-114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94949"/>
                </a:solidFill>
                <a:latin typeface="Calibri"/>
                <a:cs typeface="Calibri"/>
              </a:rPr>
              <a:t>calls.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354379" y="7235769"/>
            <a:ext cx="1711325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spc="315" dirty="0">
                <a:solidFill>
                  <a:srgbClr val="2846BD"/>
                </a:solidFill>
                <a:latin typeface="Calibri"/>
                <a:cs typeface="Calibri"/>
              </a:rPr>
              <a:t>E-</a:t>
            </a:r>
            <a:r>
              <a:rPr sz="3100" spc="330" dirty="0">
                <a:solidFill>
                  <a:srgbClr val="2846BD"/>
                </a:solidFill>
                <a:latin typeface="Calibri"/>
                <a:cs typeface="Calibri"/>
              </a:rPr>
              <a:t>Sports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41919" y="8024359"/>
            <a:ext cx="4344035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200" spc="-65" dirty="0">
                <a:solidFill>
                  <a:srgbClr val="494949"/>
                </a:solidFill>
                <a:latin typeface="Calibri"/>
                <a:cs typeface="Calibri"/>
              </a:rPr>
              <a:t>Pre-</a:t>
            </a:r>
            <a:r>
              <a:rPr sz="3200" spc="-60" dirty="0">
                <a:solidFill>
                  <a:srgbClr val="494949"/>
                </a:solidFill>
                <a:latin typeface="Calibri"/>
                <a:cs typeface="Calibri"/>
              </a:rPr>
              <a:t>match</a:t>
            </a:r>
            <a:r>
              <a:rPr sz="3200" spc="-3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525252"/>
                </a:solidFill>
                <a:latin typeface="Calibri"/>
                <a:cs typeface="Calibri"/>
              </a:rPr>
              <a:t>latency</a:t>
            </a:r>
            <a:r>
              <a:rPr sz="3200" spc="-10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3200" spc="-110" dirty="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sz="3200" spc="-10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24242"/>
                </a:solidFill>
                <a:latin typeface="Calibri"/>
                <a:cs typeface="Calibri"/>
              </a:rPr>
              <a:t>jitter</a:t>
            </a:r>
            <a:r>
              <a:rPr sz="3200" spc="-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424242"/>
                </a:solidFill>
                <a:latin typeface="Calibri"/>
                <a:cs typeface="Calibri"/>
              </a:rPr>
              <a:t>checks.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0450" y="2301875"/>
            <a:ext cx="495300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625" algn="l"/>
              </a:tabLst>
            </a:pPr>
            <a:r>
              <a:rPr sz="5150" b="1" spc="-600" dirty="0" smtClean="0">
                <a:solidFill>
                  <a:srgbClr val="156EE4"/>
                </a:solidFill>
              </a:rPr>
              <a:t>)</a:t>
            </a:r>
            <a:r>
              <a:rPr sz="5150" b="1" dirty="0" smtClean="0">
                <a:solidFill>
                  <a:srgbClr val="156EE4"/>
                </a:solidFill>
              </a:rPr>
              <a:t>	</a:t>
            </a:r>
            <a:r>
              <a:rPr sz="5150" b="1" spc="135" dirty="0" smtClean="0">
                <a:solidFill>
                  <a:srgbClr val="111111"/>
                </a:solidFill>
              </a:rPr>
              <a:t>PROS</a:t>
            </a:r>
            <a:r>
              <a:rPr sz="5150" b="1" spc="315" dirty="0" smtClean="0">
                <a:solidFill>
                  <a:srgbClr val="111111"/>
                </a:solidFill>
              </a:rPr>
              <a:t> </a:t>
            </a:r>
            <a:r>
              <a:rPr sz="5150" b="1" spc="210" dirty="0" smtClean="0">
                <a:solidFill>
                  <a:srgbClr val="161616"/>
                </a:solidFill>
              </a:rPr>
              <a:t>&amp;</a:t>
            </a:r>
            <a:r>
              <a:rPr sz="5150" b="1" spc="-40" dirty="0" smtClean="0">
                <a:solidFill>
                  <a:srgbClr val="161616"/>
                </a:solidFill>
              </a:rPr>
              <a:t> </a:t>
            </a:r>
            <a:r>
              <a:rPr sz="5150" b="1" spc="240" dirty="0" smtClean="0">
                <a:solidFill>
                  <a:srgbClr val="131313"/>
                </a:solidFill>
              </a:rPr>
              <a:t>CONS</a:t>
            </a:r>
            <a:endParaRPr sz="5150" b="1" dirty="0"/>
          </a:p>
        </p:txBody>
      </p:sp>
      <p:sp>
        <p:nvSpPr>
          <p:cNvPr id="3" name="object 3"/>
          <p:cNvSpPr txBox="1"/>
          <p:nvPr/>
        </p:nvSpPr>
        <p:spPr>
          <a:xfrm>
            <a:off x="1569439" y="5144211"/>
            <a:ext cx="7177405" cy="35159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-260" dirty="0" smtClean="0">
                <a:solidFill>
                  <a:srgbClr val="0ABC85"/>
                </a:solidFill>
                <a:latin typeface="Calibri"/>
                <a:cs typeface="Calibri"/>
              </a:rPr>
              <a:t> </a:t>
            </a:r>
            <a:r>
              <a:rPr sz="4400" b="1" spc="170" dirty="0">
                <a:solidFill>
                  <a:srgbClr val="0FB87E"/>
                </a:solidFill>
                <a:latin typeface="Calibri"/>
                <a:cs typeface="Calibri"/>
              </a:rPr>
              <a:t>Advantages</a:t>
            </a:r>
            <a:endParaRPr sz="4400" b="1" dirty="0">
              <a:latin typeface="Calibri"/>
              <a:cs typeface="Calibri"/>
            </a:endParaRPr>
          </a:p>
          <a:p>
            <a:pPr marL="26670" marR="5080" indent="2540">
              <a:lnSpc>
                <a:spcPct val="119900"/>
              </a:lnSpc>
              <a:spcBef>
                <a:spcPts val="1810"/>
              </a:spcBef>
            </a:pPr>
            <a:r>
              <a:rPr sz="3200" spc="-25" dirty="0">
                <a:solidFill>
                  <a:srgbClr val="4B4B4B"/>
                </a:solidFill>
                <a:latin typeface="Calibri"/>
                <a:cs typeface="Calibri"/>
              </a:rPr>
              <a:t>Simple</a:t>
            </a:r>
            <a:r>
              <a:rPr sz="3200" spc="-17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200" spc="-85" dirty="0">
                <a:solidFill>
                  <a:srgbClr val="444444"/>
                </a:solidFill>
                <a:latin typeface="Calibri"/>
                <a:cs typeface="Calibri"/>
              </a:rPr>
              <a:t>and</a:t>
            </a:r>
            <a:r>
              <a:rPr sz="3200" spc="-22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55" dirty="0">
                <a:solidFill>
                  <a:srgbClr val="464646"/>
                </a:solidFill>
                <a:latin typeface="Calibri"/>
                <a:cs typeface="Calibri"/>
              </a:rPr>
              <a:t>user-</a:t>
            </a:r>
            <a:r>
              <a:rPr sz="3200" spc="-20" dirty="0">
                <a:solidFill>
                  <a:srgbClr val="464646"/>
                </a:solidFill>
                <a:latin typeface="Calibri"/>
                <a:cs typeface="Calibri"/>
              </a:rPr>
              <a:t>friendly</a:t>
            </a:r>
            <a:r>
              <a:rPr sz="3200" spc="5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94949"/>
                </a:solidFill>
                <a:latin typeface="Calibri"/>
                <a:cs typeface="Calibri"/>
              </a:rPr>
              <a:t>GUI</a:t>
            </a:r>
            <a:r>
              <a:rPr sz="3200" spc="-7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444444"/>
                </a:solidFill>
                <a:latin typeface="Calibri"/>
                <a:cs typeface="Calibri"/>
              </a:rPr>
              <a:t>allows</a:t>
            </a:r>
            <a:r>
              <a:rPr sz="3200" spc="-114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70" dirty="0">
                <a:solidFill>
                  <a:srgbClr val="4B4B4B"/>
                </a:solidFill>
                <a:latin typeface="Calibri"/>
                <a:cs typeface="Calibri"/>
              </a:rPr>
              <a:t>non-</a:t>
            </a:r>
            <a:r>
              <a:rPr sz="3200" spc="-45" dirty="0">
                <a:solidFill>
                  <a:srgbClr val="4B4B4B"/>
                </a:solidFill>
                <a:latin typeface="Calibri"/>
                <a:cs typeface="Calibri"/>
              </a:rPr>
              <a:t>technical</a:t>
            </a:r>
            <a:r>
              <a:rPr sz="3200" spc="2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4B4B4B"/>
                </a:solidFill>
                <a:latin typeface="Calibri"/>
                <a:cs typeface="Calibri"/>
              </a:rPr>
              <a:t>users </a:t>
            </a:r>
            <a:r>
              <a:rPr sz="3200" spc="-25" dirty="0">
                <a:solidFill>
                  <a:srgbClr val="4D4D4D"/>
                </a:solidFill>
                <a:latin typeface="Calibri"/>
                <a:cs typeface="Calibri"/>
              </a:rPr>
              <a:t>to </a:t>
            </a:r>
            <a:r>
              <a:rPr sz="3200" spc="-55" dirty="0">
                <a:solidFill>
                  <a:srgbClr val="484848"/>
                </a:solidFill>
                <a:latin typeface="Calibri"/>
                <a:cs typeface="Calibri"/>
              </a:rPr>
              <a:t>analyze</a:t>
            </a:r>
            <a:r>
              <a:rPr sz="3200" spc="-10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565656"/>
                </a:solidFill>
                <a:latin typeface="Calibri"/>
                <a:cs typeface="Calibri"/>
              </a:rPr>
              <a:t>their</a:t>
            </a:r>
            <a:r>
              <a:rPr sz="3200" spc="-16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3200" spc="-75" dirty="0">
                <a:solidFill>
                  <a:srgbClr val="4B4B4B"/>
                </a:solidFill>
                <a:latin typeface="Calibri"/>
                <a:cs typeface="Calibri"/>
              </a:rPr>
              <a:t>connection.</a:t>
            </a:r>
            <a:r>
              <a:rPr sz="3200" spc="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endParaRPr lang="en-US" sz="3200" spc="5" dirty="0" smtClean="0">
              <a:solidFill>
                <a:srgbClr val="4B4B4B"/>
              </a:solidFill>
              <a:latin typeface="Calibri"/>
              <a:cs typeface="Calibri"/>
            </a:endParaRPr>
          </a:p>
          <a:p>
            <a:pPr marL="26670" marR="5080" indent="2540">
              <a:lnSpc>
                <a:spcPct val="119900"/>
              </a:lnSpc>
              <a:spcBef>
                <a:spcPts val="1810"/>
              </a:spcBef>
            </a:pPr>
            <a:r>
              <a:rPr sz="3200" spc="-35" dirty="0" smtClean="0">
                <a:solidFill>
                  <a:srgbClr val="383838"/>
                </a:solidFill>
                <a:latin typeface="Calibri"/>
                <a:cs typeface="Calibri"/>
              </a:rPr>
              <a:t>Provides</a:t>
            </a:r>
            <a:r>
              <a:rPr sz="3200" spc="-15" dirty="0" smtClean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200" spc="-40" dirty="0">
                <a:solidFill>
                  <a:srgbClr val="494949"/>
                </a:solidFill>
                <a:latin typeface="Calibri"/>
                <a:cs typeface="Calibri"/>
              </a:rPr>
              <a:t>real-</a:t>
            </a:r>
            <a:r>
              <a:rPr sz="3200" spc="-45" dirty="0">
                <a:solidFill>
                  <a:srgbClr val="494949"/>
                </a:solidFill>
                <a:latin typeface="Calibri"/>
                <a:cs typeface="Calibri"/>
              </a:rPr>
              <a:t>time</a:t>
            </a:r>
            <a:r>
              <a:rPr sz="3200" spc="-17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spc="-45" dirty="0">
                <a:solidFill>
                  <a:srgbClr val="565656"/>
                </a:solidFill>
                <a:latin typeface="Calibri"/>
                <a:cs typeface="Calibri"/>
              </a:rPr>
              <a:t>metrics</a:t>
            </a:r>
            <a:r>
              <a:rPr sz="3200" spc="-3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A546B"/>
                </a:solidFill>
                <a:latin typeface="Calibri"/>
                <a:cs typeface="Calibri"/>
              </a:rPr>
              <a:t>with </a:t>
            </a:r>
            <a:r>
              <a:rPr sz="3200" spc="-45" dirty="0">
                <a:solidFill>
                  <a:srgbClr val="4F4F4F"/>
                </a:solidFill>
                <a:latin typeface="Calibri"/>
                <a:cs typeface="Calibri"/>
              </a:rPr>
              <a:t>zero</a:t>
            </a:r>
            <a:r>
              <a:rPr sz="3200" spc="-9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200" spc="-60" dirty="0">
                <a:solidFill>
                  <a:srgbClr val="424242"/>
                </a:solidFill>
                <a:latin typeface="Calibri"/>
                <a:cs typeface="Calibri"/>
              </a:rPr>
              <a:t>setup</a:t>
            </a:r>
            <a:r>
              <a:rPr sz="3200" spc="-7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14141"/>
                </a:solidFill>
                <a:latin typeface="Calibri"/>
                <a:cs typeface="Calibri"/>
              </a:rPr>
              <a:t>time.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131206" y="5160571"/>
            <a:ext cx="7183120" cy="35185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5"/>
              </a:spcBef>
            </a:pPr>
            <a:r>
              <a:rPr sz="4400" b="1" spc="125" dirty="0" smtClean="0">
                <a:solidFill>
                  <a:srgbClr val="F0443B"/>
                </a:solidFill>
                <a:latin typeface="Calibri"/>
                <a:cs typeface="Calibri"/>
              </a:rPr>
              <a:t>Limitations</a:t>
            </a:r>
            <a:endParaRPr sz="4400" b="1" dirty="0">
              <a:latin typeface="Calibri"/>
              <a:cs typeface="Calibri"/>
            </a:endParaRPr>
          </a:p>
          <a:p>
            <a:pPr marL="27940" marR="5080" indent="4445" algn="just">
              <a:lnSpc>
                <a:spcPct val="119900"/>
              </a:lnSpc>
              <a:spcBef>
                <a:spcPts val="1839"/>
              </a:spcBef>
            </a:pPr>
            <a:r>
              <a:rPr sz="3200" spc="-20" dirty="0">
                <a:solidFill>
                  <a:srgbClr val="4B4B4B"/>
                </a:solidFill>
                <a:latin typeface="Calibri"/>
                <a:cs typeface="Calibri"/>
              </a:rPr>
              <a:t>Does</a:t>
            </a:r>
            <a:r>
              <a:rPr sz="3200" spc="-12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200" spc="-80" dirty="0">
                <a:solidFill>
                  <a:srgbClr val="464646"/>
                </a:solidFill>
                <a:latin typeface="Calibri"/>
                <a:cs typeface="Calibri"/>
              </a:rPr>
              <a:t>not</a:t>
            </a:r>
            <a:r>
              <a:rPr sz="3200" spc="-5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spc="-80" dirty="0">
                <a:solidFill>
                  <a:srgbClr val="494949"/>
                </a:solidFill>
                <a:latin typeface="Calibri"/>
                <a:cs typeface="Calibri"/>
              </a:rPr>
              <a:t>perform</a:t>
            </a:r>
            <a:r>
              <a:rPr sz="3200" spc="-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spc="-150" dirty="0">
                <a:solidFill>
                  <a:srgbClr val="4B4B4B"/>
                </a:solidFill>
                <a:latin typeface="Calibri"/>
                <a:cs typeface="Calibri"/>
              </a:rPr>
              <a:t>deep</a:t>
            </a:r>
            <a:r>
              <a:rPr sz="3200" spc="1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3200" spc="-95" dirty="0">
                <a:solidFill>
                  <a:srgbClr val="444444"/>
                </a:solidFill>
                <a:latin typeface="Calibri"/>
                <a:cs typeface="Calibri"/>
              </a:rPr>
              <a:t>packet</a:t>
            </a:r>
            <a:r>
              <a:rPr sz="3200" spc="-4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45" dirty="0">
                <a:solidFill>
                  <a:srgbClr val="444444"/>
                </a:solidFill>
                <a:latin typeface="Calibri"/>
                <a:cs typeface="Calibri"/>
              </a:rPr>
              <a:t>inspection</a:t>
            </a:r>
            <a:r>
              <a:rPr sz="3200" spc="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30" dirty="0">
                <a:solidFill>
                  <a:srgbClr val="828C97"/>
                </a:solidFill>
                <a:latin typeface="Calibri"/>
                <a:cs typeface="Calibri"/>
              </a:rPr>
              <a:t>or</a:t>
            </a:r>
            <a:r>
              <a:rPr sz="3200" spc="-75" dirty="0">
                <a:solidFill>
                  <a:srgbClr val="828C97"/>
                </a:solidFill>
                <a:latin typeface="Calibri"/>
                <a:cs typeface="Calibri"/>
              </a:rPr>
              <a:t> </a:t>
            </a:r>
            <a:r>
              <a:rPr sz="3200" spc="-55" dirty="0">
                <a:solidFill>
                  <a:srgbClr val="444444"/>
                </a:solidFill>
                <a:latin typeface="Calibri"/>
                <a:cs typeface="Calibri"/>
              </a:rPr>
              <a:t>traffic</a:t>
            </a:r>
            <a:r>
              <a:rPr sz="3200" spc="-8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capture. </a:t>
            </a:r>
            <a:endParaRPr lang="en-US" sz="3200" spc="-10" dirty="0" smtClean="0">
              <a:solidFill>
                <a:srgbClr val="3F3F3F"/>
              </a:solidFill>
              <a:latin typeface="Calibri"/>
              <a:cs typeface="Calibri"/>
            </a:endParaRPr>
          </a:p>
          <a:p>
            <a:pPr marL="27940" marR="5080" indent="4445" algn="just">
              <a:lnSpc>
                <a:spcPct val="119900"/>
              </a:lnSpc>
              <a:spcBef>
                <a:spcPts val="1839"/>
              </a:spcBef>
            </a:pPr>
            <a:r>
              <a:rPr sz="3200" dirty="0" smtClean="0">
                <a:solidFill>
                  <a:srgbClr val="3B3B3B"/>
                </a:solidFill>
                <a:latin typeface="Calibri"/>
                <a:cs typeface="Calibri"/>
              </a:rPr>
              <a:t>Results</a:t>
            </a:r>
            <a:r>
              <a:rPr sz="3200" spc="-140" dirty="0" smtClean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200" spc="-155" dirty="0">
                <a:solidFill>
                  <a:srgbClr val="565656"/>
                </a:solidFill>
                <a:latin typeface="Calibri"/>
                <a:cs typeface="Calibri"/>
              </a:rPr>
              <a:t>are</a:t>
            </a:r>
            <a:r>
              <a:rPr sz="3200" spc="2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3200" spc="-95" dirty="0">
                <a:solidFill>
                  <a:srgbClr val="424242"/>
                </a:solidFill>
                <a:latin typeface="Calibri"/>
                <a:cs typeface="Calibri"/>
              </a:rPr>
              <a:t>dependent</a:t>
            </a:r>
            <a:r>
              <a:rPr sz="3200" spc="-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spc="-165" dirty="0">
                <a:solidFill>
                  <a:srgbClr val="575757"/>
                </a:solidFill>
                <a:latin typeface="Calibri"/>
                <a:cs typeface="Calibri"/>
              </a:rPr>
              <a:t>on</a:t>
            </a:r>
            <a:r>
              <a:rPr sz="3200" spc="25" dirty="0">
                <a:solidFill>
                  <a:srgbClr val="575757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444444"/>
                </a:solidFill>
                <a:latin typeface="Calibri"/>
                <a:cs typeface="Calibri"/>
              </a:rPr>
              <a:t>existing</a:t>
            </a:r>
            <a:r>
              <a:rPr sz="3200" spc="-10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35" dirty="0">
                <a:solidFill>
                  <a:srgbClr val="424242"/>
                </a:solidFill>
                <a:latin typeface="Calibri"/>
                <a:cs typeface="Calibri"/>
              </a:rPr>
              <a:t>internet</a:t>
            </a:r>
            <a:r>
              <a:rPr sz="3200" spc="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D4D4D"/>
                </a:solidFill>
                <a:latin typeface="Calibri"/>
                <a:cs typeface="Calibri"/>
              </a:rPr>
              <a:t>stability</a:t>
            </a:r>
            <a:r>
              <a:rPr sz="3200" spc="-75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64646"/>
                </a:solidFill>
                <a:latin typeface="Calibri"/>
                <a:cs typeface="Calibri"/>
              </a:rPr>
              <a:t>during </a:t>
            </a:r>
            <a:r>
              <a:rPr sz="3200" spc="-60" dirty="0">
                <a:solidFill>
                  <a:srgbClr val="444444"/>
                </a:solidFill>
                <a:latin typeface="Calibri"/>
                <a:cs typeface="Calibri"/>
              </a:rPr>
              <a:t>probe</a:t>
            </a:r>
            <a:r>
              <a:rPr sz="3200" spc="-1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F4F4F"/>
                </a:solidFill>
                <a:latin typeface="Calibri"/>
                <a:cs typeface="Calibri"/>
              </a:rPr>
              <a:t>time.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1194" y="2378075"/>
            <a:ext cx="8425056" cy="78547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28625" algn="l"/>
              </a:tabLst>
            </a:pPr>
            <a:r>
              <a:rPr b="1" spc="-550" dirty="0">
                <a:solidFill>
                  <a:srgbClr val="186DE1"/>
                </a:solidFill>
              </a:rPr>
              <a:t>)</a:t>
            </a:r>
            <a:r>
              <a:rPr b="1" dirty="0">
                <a:solidFill>
                  <a:srgbClr val="186DE1"/>
                </a:solidFill>
              </a:rPr>
              <a:t>	</a:t>
            </a:r>
            <a:r>
              <a:rPr lang="en-US" b="1" spc="140" dirty="0" smtClean="0">
                <a:solidFill>
                  <a:srgbClr val="131313"/>
                </a:solidFill>
              </a:rPr>
              <a:t>FUTURE ENHANCEMENTS</a:t>
            </a:r>
            <a:endParaRPr b="1" spc="140" dirty="0">
              <a:solidFill>
                <a:srgbClr val="131313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08250" y="4511675"/>
            <a:ext cx="8958456" cy="4758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0"/>
              </a:spcBef>
            </a:pPr>
            <a:r>
              <a:rPr sz="4400" spc="295" dirty="0">
                <a:solidFill>
                  <a:srgbClr val="1338BD"/>
                </a:solidFill>
                <a:latin typeface="Calibri"/>
                <a:cs typeface="Calibri"/>
              </a:rPr>
              <a:t>Version</a:t>
            </a:r>
            <a:r>
              <a:rPr sz="4400" spc="-120" dirty="0">
                <a:solidFill>
                  <a:srgbClr val="1338BD"/>
                </a:solidFill>
                <a:latin typeface="Calibri"/>
                <a:cs typeface="Calibri"/>
              </a:rPr>
              <a:t> </a:t>
            </a:r>
            <a:r>
              <a:rPr sz="4400" spc="285" dirty="0">
                <a:solidFill>
                  <a:srgbClr val="1A46A3"/>
                </a:solidFill>
                <a:latin typeface="Calibri"/>
                <a:cs typeface="Calibri"/>
              </a:rPr>
              <a:t>2.0</a:t>
            </a:r>
            <a:r>
              <a:rPr sz="4400" spc="-400" dirty="0">
                <a:solidFill>
                  <a:srgbClr val="1A46A3"/>
                </a:solidFill>
                <a:latin typeface="Calibri"/>
                <a:cs typeface="Calibri"/>
              </a:rPr>
              <a:t> </a:t>
            </a:r>
            <a:r>
              <a:rPr sz="4400" spc="350" dirty="0">
                <a:solidFill>
                  <a:srgbClr val="16369A"/>
                </a:solidFill>
                <a:latin typeface="Calibri"/>
                <a:cs typeface="Calibri"/>
              </a:rPr>
              <a:t>Goals</a:t>
            </a:r>
            <a:endParaRPr sz="4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  <a:tabLst>
                <a:tab pos="737870" algn="l"/>
              </a:tabLst>
            </a:pPr>
            <a:r>
              <a:rPr sz="3200" spc="-345" dirty="0">
                <a:solidFill>
                  <a:srgbClr val="2366E1"/>
                </a:solidFill>
                <a:latin typeface="Calibri"/>
                <a:cs typeface="Calibri"/>
              </a:rPr>
              <a:t>••}-</a:t>
            </a:r>
            <a:r>
              <a:rPr sz="3200" dirty="0">
                <a:solidFill>
                  <a:srgbClr val="2366E1"/>
                </a:solidFill>
                <a:latin typeface="Calibri"/>
                <a:cs typeface="Calibri"/>
              </a:rPr>
              <a:t>	</a:t>
            </a:r>
            <a:r>
              <a:rPr sz="3200" dirty="0">
                <a:solidFill>
                  <a:srgbClr val="464646"/>
                </a:solidFill>
                <a:latin typeface="Calibri"/>
                <a:cs typeface="Calibri"/>
              </a:rPr>
              <a:t>Packet</a:t>
            </a:r>
            <a:r>
              <a:rPr sz="3200" spc="-3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spc="55" dirty="0">
                <a:solidFill>
                  <a:srgbClr val="383838"/>
                </a:solidFill>
                <a:latin typeface="Calibri"/>
                <a:cs typeface="Calibri"/>
              </a:rPr>
              <a:t>Loss</a:t>
            </a:r>
            <a:r>
              <a:rPr sz="3200" spc="-11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44444"/>
                </a:solidFill>
                <a:latin typeface="Calibri"/>
                <a:cs typeface="Calibri"/>
              </a:rPr>
              <a:t>Measurement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3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tabLst>
                <a:tab pos="736600" algn="l"/>
              </a:tabLst>
            </a:pPr>
            <a:r>
              <a:rPr sz="3200" spc="-345" dirty="0">
                <a:solidFill>
                  <a:srgbClr val="265DDB"/>
                </a:solidFill>
                <a:latin typeface="Calibri"/>
                <a:cs typeface="Calibri"/>
              </a:rPr>
              <a:t>••}-</a:t>
            </a:r>
            <a:r>
              <a:rPr sz="3200" dirty="0">
                <a:solidFill>
                  <a:srgbClr val="265DDB"/>
                </a:solidFill>
                <a:latin typeface="Calibri"/>
                <a:cs typeface="Calibri"/>
              </a:rPr>
              <a:t>	</a:t>
            </a:r>
            <a:r>
              <a:rPr sz="3200" dirty="0">
                <a:solidFill>
                  <a:srgbClr val="3D3D3D"/>
                </a:solidFill>
                <a:latin typeface="Calibri"/>
                <a:cs typeface="Calibri"/>
              </a:rPr>
              <a:t>Traceroute </a:t>
            </a:r>
            <a:r>
              <a:rPr sz="3200" spc="35" dirty="0">
                <a:solidFill>
                  <a:srgbClr val="424242"/>
                </a:solidFill>
                <a:latin typeface="Calibri"/>
                <a:cs typeface="Calibri"/>
              </a:rPr>
              <a:t>Visualization</a:t>
            </a:r>
            <a:endParaRPr sz="3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3200" dirty="0">
              <a:latin typeface="Calibri"/>
              <a:cs typeface="Calibri"/>
            </a:endParaRPr>
          </a:p>
          <a:p>
            <a:pPr marL="29845">
              <a:lnSpc>
                <a:spcPct val="100000"/>
              </a:lnSpc>
              <a:tabLst>
                <a:tab pos="736600" algn="l"/>
              </a:tabLst>
            </a:pPr>
            <a:r>
              <a:rPr sz="3600" spc="60" dirty="0">
                <a:solidFill>
                  <a:srgbClr val="1F5DE6"/>
                </a:solidFill>
                <a:latin typeface="Calibri"/>
                <a:cs typeface="Calibri"/>
              </a:rPr>
              <a:t>-</a:t>
            </a:r>
            <a:r>
              <a:rPr sz="3600" spc="40" dirty="0">
                <a:solidFill>
                  <a:srgbClr val="1F5DE6"/>
                </a:solidFill>
                <a:latin typeface="Calibri"/>
                <a:cs typeface="Calibri"/>
              </a:rPr>
              <a:t>{-</a:t>
            </a:r>
            <a:r>
              <a:rPr sz="3600" dirty="0">
                <a:solidFill>
                  <a:srgbClr val="1F5DE6"/>
                </a:solidFill>
                <a:latin typeface="Calibri"/>
                <a:cs typeface="Calibri"/>
              </a:rPr>
              <a:t>	</a:t>
            </a:r>
            <a:r>
              <a:rPr sz="3600" spc="110" dirty="0">
                <a:solidFill>
                  <a:srgbClr val="4F4F4F"/>
                </a:solidFill>
                <a:latin typeface="Calibri"/>
                <a:cs typeface="Calibri"/>
              </a:rPr>
              <a:t>PDF</a:t>
            </a:r>
            <a:r>
              <a:rPr sz="3600" spc="-20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3600" spc="-30" dirty="0">
                <a:solidFill>
                  <a:srgbClr val="444444"/>
                </a:solidFill>
                <a:latin typeface="Calibri"/>
                <a:cs typeface="Calibri"/>
              </a:rPr>
              <a:t>Report</a:t>
            </a:r>
            <a:r>
              <a:rPr sz="3600" spc="-7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444444"/>
                </a:solidFill>
                <a:latin typeface="Calibri"/>
                <a:cs typeface="Calibri"/>
              </a:rPr>
              <a:t>Exporting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3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732790" algn="l"/>
              </a:tabLst>
            </a:pPr>
            <a:r>
              <a:rPr sz="3200" spc="-345" dirty="0">
                <a:solidFill>
                  <a:srgbClr val="2D5EFD"/>
                </a:solidFill>
                <a:latin typeface="Calibri"/>
                <a:cs typeface="Calibri"/>
              </a:rPr>
              <a:t>••}-</a:t>
            </a:r>
            <a:r>
              <a:rPr sz="3200" dirty="0">
                <a:solidFill>
                  <a:srgbClr val="2D5EFD"/>
                </a:solidFill>
                <a:latin typeface="Calibri"/>
                <a:cs typeface="Calibri"/>
              </a:rPr>
              <a:t>	</a:t>
            </a:r>
            <a:r>
              <a:rPr sz="3200" spc="50" dirty="0">
                <a:solidFill>
                  <a:srgbClr val="424242"/>
                </a:solidFill>
                <a:latin typeface="Calibri"/>
                <a:cs typeface="Calibri"/>
              </a:rPr>
              <a:t>Cross-</a:t>
            </a:r>
            <a:r>
              <a:rPr sz="3200" spc="55" dirty="0">
                <a:solidFill>
                  <a:srgbClr val="424242"/>
                </a:solidFill>
                <a:latin typeface="Calibri"/>
                <a:cs typeface="Calibri"/>
              </a:rPr>
              <a:t>platform</a:t>
            </a:r>
            <a:r>
              <a:rPr sz="3200" spc="-9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444444"/>
                </a:solidFill>
                <a:latin typeface="Calibri"/>
                <a:cs typeface="Calibri"/>
              </a:rPr>
              <a:t>Support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8" name="Picture 7" descr="Demography Archives - Fabius Maximus websit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650" y="0"/>
            <a:ext cx="7537450" cy="113093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900" dirty="0">
                <a:solidFill>
                  <a:srgbClr val="1A1A1A"/>
                </a:solidFill>
              </a:rPr>
              <a:t>Project</a:t>
            </a:r>
            <a:r>
              <a:rPr sz="9900" spc="-470" dirty="0">
                <a:solidFill>
                  <a:srgbClr val="1A1A1A"/>
                </a:solidFill>
              </a:rPr>
              <a:t> </a:t>
            </a:r>
            <a:r>
              <a:rPr sz="9900" spc="200" dirty="0">
                <a:solidFill>
                  <a:srgbClr val="1A1A1A"/>
                </a:solidFill>
              </a:rPr>
              <a:t>Conclusion</a:t>
            </a:r>
            <a:endParaRPr sz="99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xfrm>
            <a:off x="3814795" y="6064340"/>
            <a:ext cx="12474509" cy="1924758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R="5080" algn="ctr">
              <a:lnSpc>
                <a:spcPct val="118400"/>
              </a:lnSpc>
              <a:spcBef>
                <a:spcPts val="40"/>
              </a:spcBef>
            </a:pPr>
            <a:r>
              <a:rPr sz="3600" dirty="0">
                <a:solidFill>
                  <a:srgbClr val="5E7493"/>
                </a:solidFill>
                <a:latin typeface="Calibri"/>
                <a:cs typeface="Calibri"/>
              </a:rPr>
              <a:t>We</a:t>
            </a:r>
            <a:r>
              <a:rPr sz="3600" spc="-195" dirty="0">
                <a:solidFill>
                  <a:srgbClr val="5E7493"/>
                </a:solidFill>
                <a:latin typeface="Calibri"/>
                <a:cs typeface="Calibri"/>
              </a:rPr>
              <a:t> </a:t>
            </a:r>
            <a:r>
              <a:rPr sz="3600" spc="-90" dirty="0">
                <a:solidFill>
                  <a:srgbClr val="69758E"/>
                </a:solidFill>
                <a:latin typeface="Calibri"/>
                <a:cs typeface="Calibri"/>
              </a:rPr>
              <a:t>have</a:t>
            </a:r>
            <a:r>
              <a:rPr sz="3600" spc="-100" dirty="0">
                <a:solidFill>
                  <a:srgbClr val="69758E"/>
                </a:solidFill>
                <a:latin typeface="Calibri"/>
                <a:cs typeface="Calibri"/>
              </a:rPr>
              <a:t> </a:t>
            </a:r>
            <a:r>
              <a:rPr sz="3600" spc="-95" dirty="0">
                <a:solidFill>
                  <a:srgbClr val="647583"/>
                </a:solidFill>
                <a:latin typeface="Calibri"/>
                <a:cs typeface="Calibri"/>
              </a:rPr>
              <a:t>successfully</a:t>
            </a:r>
            <a:r>
              <a:rPr sz="3600" spc="-45" dirty="0">
                <a:solidFill>
                  <a:srgbClr val="647583"/>
                </a:solidFill>
                <a:latin typeface="Calibri"/>
                <a:cs typeface="Calibri"/>
              </a:rPr>
              <a:t> </a:t>
            </a:r>
            <a:r>
              <a:rPr sz="3600" spc="-100" dirty="0">
                <a:solidFill>
                  <a:srgbClr val="606060"/>
                </a:solidFill>
                <a:latin typeface="Calibri"/>
                <a:cs typeface="Calibri"/>
              </a:rPr>
              <a:t>bridged</a:t>
            </a:r>
            <a:r>
              <a:rPr sz="3600" spc="-30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3600" spc="-130" dirty="0">
                <a:solidFill>
                  <a:srgbClr val="677485"/>
                </a:solidFill>
                <a:latin typeface="Calibri"/>
                <a:cs typeface="Calibri"/>
              </a:rPr>
              <a:t>the</a:t>
            </a:r>
            <a:r>
              <a:rPr sz="3600" spc="-60" dirty="0">
                <a:solidFill>
                  <a:srgbClr val="677485"/>
                </a:solidFill>
                <a:latin typeface="Calibri"/>
                <a:cs typeface="Calibri"/>
              </a:rPr>
              <a:t> </a:t>
            </a:r>
            <a:r>
              <a:rPr sz="3600" spc="-160" dirty="0">
                <a:solidFill>
                  <a:srgbClr val="646D7E"/>
                </a:solidFill>
                <a:latin typeface="Calibri"/>
                <a:cs typeface="Calibri"/>
              </a:rPr>
              <a:t>gap</a:t>
            </a:r>
            <a:r>
              <a:rPr sz="3600" spc="-100" dirty="0">
                <a:solidFill>
                  <a:srgbClr val="646D7E"/>
                </a:solidFill>
                <a:latin typeface="Calibri"/>
                <a:cs typeface="Calibri"/>
              </a:rPr>
              <a:t> </a:t>
            </a:r>
            <a:r>
              <a:rPr sz="3600" spc="-130" dirty="0">
                <a:solidFill>
                  <a:srgbClr val="607285"/>
                </a:solidFill>
                <a:latin typeface="Calibri"/>
                <a:cs typeface="Calibri"/>
              </a:rPr>
              <a:t>between</a:t>
            </a:r>
            <a:r>
              <a:rPr sz="3600" spc="-60" dirty="0">
                <a:solidFill>
                  <a:srgbClr val="607285"/>
                </a:solidFill>
                <a:latin typeface="Calibri"/>
                <a:cs typeface="Calibri"/>
              </a:rPr>
              <a:t> </a:t>
            </a:r>
            <a:r>
              <a:rPr sz="3600" spc="-105" dirty="0">
                <a:solidFill>
                  <a:srgbClr val="626B82"/>
                </a:solidFill>
                <a:latin typeface="Calibri"/>
                <a:cs typeface="Calibri"/>
              </a:rPr>
              <a:t>technical</a:t>
            </a:r>
            <a:r>
              <a:rPr sz="3600" spc="-65" dirty="0">
                <a:solidFill>
                  <a:srgbClr val="626B82"/>
                </a:solidFill>
                <a:latin typeface="Calibri"/>
                <a:cs typeface="Calibri"/>
              </a:rPr>
              <a:t> </a:t>
            </a:r>
            <a:r>
              <a:rPr sz="3600" spc="-90" dirty="0">
                <a:solidFill>
                  <a:srgbClr val="677587"/>
                </a:solidFill>
                <a:latin typeface="Calibri"/>
                <a:cs typeface="Calibri"/>
              </a:rPr>
              <a:t>networking</a:t>
            </a:r>
            <a:r>
              <a:rPr sz="3600" spc="5" dirty="0">
                <a:solidFill>
                  <a:srgbClr val="677587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627482"/>
                </a:solidFill>
                <a:latin typeface="Calibri"/>
                <a:cs typeface="Calibri"/>
              </a:rPr>
              <a:t>metrics </a:t>
            </a:r>
            <a:r>
              <a:rPr sz="3600" spc="-200" dirty="0">
                <a:solidFill>
                  <a:srgbClr val="677585"/>
                </a:solidFill>
                <a:latin typeface="Calibri"/>
                <a:cs typeface="Calibri"/>
              </a:rPr>
              <a:t>and</a:t>
            </a:r>
            <a:r>
              <a:rPr sz="3600" spc="-50" dirty="0">
                <a:solidFill>
                  <a:srgbClr val="677585"/>
                </a:solidFill>
                <a:latin typeface="Calibri"/>
                <a:cs typeface="Calibri"/>
              </a:rPr>
              <a:t> </a:t>
            </a:r>
            <a:r>
              <a:rPr sz="3600" spc="-114" dirty="0">
                <a:solidFill>
                  <a:srgbClr val="6B6B6B"/>
                </a:solidFill>
                <a:latin typeface="Calibri"/>
                <a:cs typeface="Calibri"/>
              </a:rPr>
              <a:t>actionable</a:t>
            </a:r>
            <a:r>
              <a:rPr sz="3600" spc="-8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626E82"/>
                </a:solidFill>
                <a:latin typeface="Calibri"/>
                <a:cs typeface="Calibri"/>
              </a:rPr>
              <a:t>user</a:t>
            </a:r>
            <a:r>
              <a:rPr sz="3600" spc="-90" dirty="0">
                <a:solidFill>
                  <a:srgbClr val="626E82"/>
                </a:solidFill>
                <a:latin typeface="Calibri"/>
                <a:cs typeface="Calibri"/>
              </a:rPr>
              <a:t> </a:t>
            </a:r>
            <a:r>
              <a:rPr sz="3600" spc="-100" dirty="0">
                <a:solidFill>
                  <a:srgbClr val="626E7C"/>
                </a:solidFill>
                <a:latin typeface="Calibri"/>
                <a:cs typeface="Calibri"/>
              </a:rPr>
              <a:t>feedback,</a:t>
            </a:r>
            <a:r>
              <a:rPr sz="3600" spc="-75" dirty="0">
                <a:solidFill>
                  <a:srgbClr val="626E7C"/>
                </a:solidFill>
                <a:latin typeface="Calibri"/>
                <a:cs typeface="Calibri"/>
              </a:rPr>
              <a:t> </a:t>
            </a:r>
            <a:r>
              <a:rPr sz="3600" spc="-105" dirty="0">
                <a:solidFill>
                  <a:srgbClr val="697582"/>
                </a:solidFill>
                <a:latin typeface="Calibri"/>
                <a:cs typeface="Calibri"/>
              </a:rPr>
              <a:t>providing</a:t>
            </a:r>
            <a:r>
              <a:rPr sz="3600" spc="-20" dirty="0">
                <a:solidFill>
                  <a:srgbClr val="697582"/>
                </a:solidFill>
                <a:latin typeface="Calibri"/>
                <a:cs typeface="Calibri"/>
              </a:rPr>
              <a:t> </a:t>
            </a:r>
            <a:r>
              <a:rPr sz="3600" spc="-160" dirty="0">
                <a:solidFill>
                  <a:srgbClr val="677585"/>
                </a:solidFill>
                <a:latin typeface="Calibri"/>
                <a:cs typeface="Calibri"/>
              </a:rPr>
              <a:t>a</a:t>
            </a:r>
            <a:r>
              <a:rPr sz="3600" spc="-140" dirty="0">
                <a:solidFill>
                  <a:srgbClr val="677585"/>
                </a:solidFill>
                <a:latin typeface="Calibri"/>
                <a:cs typeface="Calibri"/>
              </a:rPr>
              <a:t> </a:t>
            </a:r>
            <a:r>
              <a:rPr sz="3600" spc="-110" dirty="0">
                <a:solidFill>
                  <a:srgbClr val="6E7483"/>
                </a:solidFill>
                <a:latin typeface="Calibri"/>
                <a:cs typeface="Calibri"/>
              </a:rPr>
              <a:t>robust</a:t>
            </a:r>
            <a:r>
              <a:rPr sz="3600" spc="-5" dirty="0">
                <a:solidFill>
                  <a:srgbClr val="6E7483"/>
                </a:solidFill>
                <a:latin typeface="Calibri"/>
                <a:cs typeface="Calibri"/>
              </a:rPr>
              <a:t> </a:t>
            </a:r>
            <a:r>
              <a:rPr sz="3600" spc="-90" dirty="0">
                <a:solidFill>
                  <a:srgbClr val="627489"/>
                </a:solidFill>
                <a:latin typeface="Calibri"/>
                <a:cs typeface="Calibri"/>
              </a:rPr>
              <a:t>platform</a:t>
            </a:r>
            <a:r>
              <a:rPr sz="3600" spc="-35" dirty="0">
                <a:solidFill>
                  <a:srgbClr val="627489"/>
                </a:solidFill>
                <a:latin typeface="Calibri"/>
                <a:cs typeface="Calibri"/>
              </a:rPr>
              <a:t> </a:t>
            </a:r>
            <a:r>
              <a:rPr sz="3600" spc="-45" dirty="0">
                <a:solidFill>
                  <a:srgbClr val="627282"/>
                </a:solidFill>
                <a:latin typeface="Calibri"/>
                <a:cs typeface="Calibri"/>
              </a:rPr>
              <a:t>for</a:t>
            </a:r>
            <a:r>
              <a:rPr sz="3600" spc="-90" dirty="0">
                <a:solidFill>
                  <a:srgbClr val="627282"/>
                </a:solidFill>
                <a:latin typeface="Calibri"/>
                <a:cs typeface="Calibri"/>
              </a:rPr>
              <a:t> </a:t>
            </a:r>
            <a:r>
              <a:rPr sz="3600" spc="-85" dirty="0">
                <a:solidFill>
                  <a:srgbClr val="72798A"/>
                </a:solidFill>
                <a:latin typeface="Calibri"/>
                <a:cs typeface="Calibri"/>
              </a:rPr>
              <a:t>real-</a:t>
            </a:r>
            <a:r>
              <a:rPr sz="3600" spc="-20" dirty="0">
                <a:solidFill>
                  <a:srgbClr val="72798A"/>
                </a:solidFill>
                <a:latin typeface="Calibri"/>
                <a:cs typeface="Calibri"/>
              </a:rPr>
              <a:t>time </a:t>
            </a:r>
            <a:r>
              <a:rPr sz="3600" spc="-80" dirty="0">
                <a:solidFill>
                  <a:srgbClr val="676767"/>
                </a:solidFill>
                <a:latin typeface="Calibri"/>
                <a:cs typeface="Calibri"/>
              </a:rPr>
              <a:t>connectivity</a:t>
            </a:r>
            <a:r>
              <a:rPr sz="3600" spc="-90" dirty="0">
                <a:solidFill>
                  <a:srgbClr val="676767"/>
                </a:solidFill>
                <a:latin typeface="Calibri"/>
                <a:cs typeface="Calibri"/>
              </a:rPr>
              <a:t> </a:t>
            </a:r>
            <a:r>
              <a:rPr sz="3600" spc="-10" dirty="0">
                <a:solidFill>
                  <a:srgbClr val="697585"/>
                </a:solidFill>
                <a:latin typeface="Calibri"/>
                <a:cs typeface="Calibri"/>
              </a:rPr>
              <a:t>analysis.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86331" y="3037600"/>
            <a:ext cx="7213600" cy="1812289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700" spc="305" dirty="0">
                <a:solidFill>
                  <a:srgbClr val="1D3FAE"/>
                </a:solidFill>
              </a:rPr>
              <a:t>Questions?</a:t>
            </a:r>
            <a:endParaRPr sz="11700"/>
          </a:p>
        </p:txBody>
      </p:sp>
      <p:sp>
        <p:nvSpPr>
          <p:cNvPr id="3" name="object 3"/>
          <p:cNvSpPr txBox="1"/>
          <p:nvPr/>
        </p:nvSpPr>
        <p:spPr>
          <a:xfrm>
            <a:off x="7461250" y="5426075"/>
            <a:ext cx="5776248" cy="999632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200" spc="50" dirty="0">
                <a:solidFill>
                  <a:srgbClr val="505050"/>
                </a:solidFill>
                <a:latin typeface="Calibri"/>
                <a:cs typeface="Calibri"/>
              </a:rPr>
              <a:t>Thank</a:t>
            </a:r>
            <a:r>
              <a:rPr sz="3200" spc="-50" dirty="0">
                <a:solidFill>
                  <a:srgbClr val="505050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44444"/>
                </a:solidFill>
                <a:latin typeface="Calibri"/>
                <a:cs typeface="Calibri"/>
              </a:rPr>
              <a:t>you</a:t>
            </a:r>
            <a:r>
              <a:rPr sz="3200" spc="-12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3200" spc="50" dirty="0">
                <a:solidFill>
                  <a:srgbClr val="494949"/>
                </a:solidFill>
                <a:latin typeface="Calibri"/>
                <a:cs typeface="Calibri"/>
              </a:rPr>
              <a:t>for</a:t>
            </a:r>
            <a:r>
              <a:rPr sz="3200" spc="-10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64646"/>
                </a:solidFill>
                <a:latin typeface="Calibri"/>
                <a:cs typeface="Calibri"/>
              </a:rPr>
              <a:t>your</a:t>
            </a:r>
            <a:r>
              <a:rPr sz="3200" spc="-2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494949"/>
                </a:solidFill>
                <a:latin typeface="Calibri"/>
                <a:cs typeface="Calibri"/>
              </a:rPr>
              <a:t>time</a:t>
            </a:r>
            <a:r>
              <a:rPr sz="3200" spc="-1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F3F3F"/>
                </a:solidFill>
                <a:latin typeface="Calibri"/>
                <a:cs typeface="Calibri"/>
              </a:rPr>
              <a:t>and</a:t>
            </a:r>
            <a:r>
              <a:rPr sz="3200" spc="-3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3F3F3F"/>
                </a:solidFill>
                <a:latin typeface="Calibri"/>
                <a:cs typeface="Calibri"/>
              </a:rPr>
              <a:t>attention.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24242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465</Words>
  <Application>Microsoft Office PowerPoint</Application>
  <PresentationFormat>Custom</PresentationFormat>
  <Paragraphs>115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Academy</vt:lpstr>
      <vt:lpstr>Arial</vt:lpstr>
      <vt:lpstr>Arial MT</vt:lpstr>
      <vt:lpstr>Calibri</vt:lpstr>
      <vt:lpstr>Consolas</vt:lpstr>
      <vt:lpstr>League Spartan</vt:lpstr>
      <vt:lpstr>MuseoModerno Medium</vt:lpstr>
      <vt:lpstr>Roboto</vt:lpstr>
      <vt:lpstr>Roboto Bold</vt:lpstr>
      <vt:lpstr>Wingdings</vt:lpstr>
      <vt:lpstr>Office Theme</vt:lpstr>
      <vt:lpstr>PowerPoint Presentation</vt:lpstr>
      <vt:lpstr>) INTRODUCTION</vt:lpstr>
      <vt:lpstr>) CORE OBJECTIVES</vt:lpstr>
      <vt:lpstr>) TECHNICAL STACK</vt:lpstr>
      <vt:lpstr>) SYSTEM ARCHITECTURE</vt:lpstr>
      <vt:lpstr>) BACKEND MECHANICS</vt:lpstr>
      <vt:lpstr>) PRIMARY METRICS</vt:lpstr>
      <vt:lpstr>) VISUAL RESULTS</vt:lpstr>
      <vt:lpstr>) SAMPLE COMPARISONS</vt:lpstr>
      <vt:lpstr>) PROJECT APPLICATIONS</vt:lpstr>
      <vt:lpstr>) PROS &amp; CONS</vt:lpstr>
      <vt:lpstr>) FUTURE ENHANCEMENTS</vt:lpstr>
      <vt:lpstr>Project Conclusion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Muhammad Ali</cp:lastModifiedBy>
  <cp:revision>6</cp:revision>
  <dcterms:created xsi:type="dcterms:W3CDTF">2025-12-28T17:21:44Z</dcterms:created>
  <dcterms:modified xsi:type="dcterms:W3CDTF">2025-12-28T18:13:29Z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2025-12-28T00:00:00Z</vt:filetime>
  </property>
  <property fmtid="{D5CDD505-2E9C-101B-9397-08002B2CF9AE}" pid="3" name="LastSaved">
    <vt:filetime>2025-12-28T00:00:00Z</vt:filetime>
  </property>
</Properties>
</file>